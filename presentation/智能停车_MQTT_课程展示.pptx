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005840"/>
            <a:ext cx="106070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E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600200"/>
            <a:ext cx="9601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E1F3A"/>
                </a:solidFill>
                <a:latin typeface="PingFang SC"/>
              </a:rPr>
              <a:t>智能停车 MQTT 原型</a:t>
            </a:r>
          </a:p>
          <a:p>
            <a:r>
              <a:rPr sz="1600">
                <a:solidFill>
                  <a:srgbClr val="198393"/>
                </a:solidFill>
                <a:latin typeface="Avenir Next"/>
              </a:rPr>
              <a:t>405CMD Week 4-5 Homework Presentation</a:t>
            </a:r>
          </a:p>
          <a:p>
            <a:r>
              <a:rPr sz="2000">
                <a:solidFill>
                  <a:srgbClr val="586069"/>
                </a:solidFill>
                <a:latin typeface="PingFang SC"/>
              </a:rPr>
              <a:t>使用 Python + MQTT 模拟车位状态、停车场大屏、统计服务和入口道闸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3840480"/>
            <a:ext cx="2194560" cy="502920"/>
          </a:xfrm>
          <a:prstGeom prst="roundRect">
            <a:avLst/>
          </a:prstGeom>
          <a:solidFill>
            <a:srgbClr val="198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课程展示版本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66344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E1F3A"/>
                </a:solidFill>
                <a:latin typeface="PingFang SC"/>
              </a:defRPr>
            </a:pPr>
            <a:r>
              <a:t>核心亮点：publish / subscribe 完整链路 + 多角色联动 + 可以继续扩展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E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E1F3A"/>
                </a:solidFill>
                <a:latin typeface="PingFang SC"/>
              </a:rPr>
              <a:t>1. 项目目标</a:t>
            </a:r>
          </a:p>
          <a:p>
            <a:r>
              <a:rPr sz="1400">
                <a:solidFill>
                  <a:srgbClr val="586069"/>
                </a:solidFill>
                <a:latin typeface="PingFang SC"/>
              </a:rPr>
              <a:t>先做出一个能跑通的 MQTT 原型，而不是一次做完整平台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E1F3A"/>
                </a:solidFill>
                <a:latin typeface="PingFang SC"/>
              </a:defRPr>
            </a:pPr>
            <a:r>
              <a:t>场景：停车场需要实时知道哪些车位空闲，入口道闸也要根据空闲情况放行。</a:t>
            </a:r>
          </a:p>
          <a:p>
            <a:pPr>
              <a:spcAft>
                <a:spcPts val="1000"/>
              </a:spcAft>
              <a:defRPr sz="2200">
                <a:solidFill>
                  <a:srgbClr val="0E1F3A"/>
                </a:solidFill>
                <a:latin typeface="PingFang SC"/>
              </a:defRPr>
            </a:pPr>
            <a:r>
              <a:t>技术目标：使用 MQTT 完成 publish / subscribe 的消息传递。</a:t>
            </a:r>
          </a:p>
          <a:p>
            <a:pPr>
              <a:spcAft>
                <a:spcPts val="1000"/>
              </a:spcAft>
              <a:defRPr sz="2200">
                <a:solidFill>
                  <a:srgbClr val="0E1F3A"/>
                </a:solidFill>
                <a:latin typeface="PingFang SC"/>
              </a:defRPr>
            </a:pPr>
            <a:r>
              <a:t>课程要求：至少要有一个发布端、一个订阅端，并能扩展成自己的项目原型。</a:t>
            </a:r>
          </a:p>
          <a:p>
            <a:pPr>
              <a:spcAft>
                <a:spcPts val="1000"/>
              </a:spcAft>
              <a:defRPr sz="2200">
                <a:solidFill>
                  <a:srgbClr val="0E1F3A"/>
                </a:solidFill>
                <a:latin typeface="PingFang SC"/>
              </a:defRPr>
            </a:pPr>
            <a:r>
              <a:t>本次原型：把车位传感器、显示大屏、统计服务、入口道闸串成一个完整流程。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E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E1F3A"/>
                </a:solidFill>
                <a:latin typeface="PingFang SC"/>
              </a:rPr>
              <a:t>2. 系统结构</a:t>
            </a:r>
          </a:p>
          <a:p>
            <a:r>
              <a:rPr sz="1400">
                <a:solidFill>
                  <a:srgbClr val="586069"/>
                </a:solidFill>
                <a:latin typeface="PingFang SC"/>
              </a:rPr>
              <a:t>以 MQTT Broker 为中心，把不同模块连接起来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2011680" cy="914400"/>
          </a:xfrm>
          <a:prstGeom prst="roundRect">
            <a:avLst/>
          </a:prstGeom>
          <a:solidFill>
            <a:srgbClr val="19839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车位传感器
publisher_sensor.py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749039"/>
            <a:ext cx="2011680" cy="914400"/>
          </a:xfrm>
          <a:prstGeom prst="roundRect">
            <a:avLst/>
          </a:prstGeom>
          <a:solidFill>
            <a:srgbClr val="F28C2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车辆请求
publisher_vehicle_request.py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2697480"/>
            <a:ext cx="2377440" cy="1051560"/>
          </a:xfrm>
          <a:prstGeom prst="roundRect">
            <a:avLst/>
          </a:prstGeom>
          <a:solidFill>
            <a:srgbClr val="0E1F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MQTT Broker
broker.hivemq.com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1325880"/>
            <a:ext cx="2011680" cy="914400"/>
          </a:xfrm>
          <a:prstGeom prst="roundRect">
            <a:avLst/>
          </a:prstGeom>
          <a:solidFill>
            <a:srgbClr val="19839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停车场大屏
subscriber_display.py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2743200"/>
            <a:ext cx="2011680" cy="914400"/>
          </a:xfrm>
          <a:prstGeom prst="roundRect">
            <a:avLst/>
          </a:prstGeom>
          <a:solidFill>
            <a:srgbClr val="F28C2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统计服务
subscriber_stats.py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4160520"/>
            <a:ext cx="2011680" cy="914400"/>
          </a:xfrm>
          <a:prstGeom prst="roundRect">
            <a:avLst/>
          </a:prstGeom>
          <a:solidFill>
            <a:srgbClr val="19839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入口道闸
subscriber_gateway.py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0574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E1F3A"/>
                </a:solidFill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397763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E1F3A"/>
                </a:solidFill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600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E1F3A"/>
                </a:solidFill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971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E1F3A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4389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E1F3A"/>
                </a:solidFill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66928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86069"/>
                </a:solidFill>
                <a:latin typeface="PingFang SC"/>
              </a:defRPr>
            </a:pPr>
            <a:r>
              <a:t>解释时可以直接说：左边是发布端，中间是 Broker，右边是订阅端和控制端。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E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E1F3A"/>
                </a:solidFill>
                <a:latin typeface="PingFang SC"/>
              </a:rPr>
              <a:t>3. MQTT Topic 设计</a:t>
            </a:r>
          </a:p>
          <a:p>
            <a:r>
              <a:rPr sz="1400">
                <a:solidFill>
                  <a:srgbClr val="586069"/>
                </a:solidFill>
                <a:latin typeface="PingFang SC"/>
              </a:rPr>
              <a:t>每个模块围绕固定主题收发消息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37360"/>
          <a:ext cx="1042416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  <a:gridCol w="3474720"/>
              </a:tblGrid>
              <a:tr h="56388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  <a:latin typeface="Avenir Next"/>
                        </a:defRPr>
                      </a:pPr>
                      <a:r>
                        <a:t>Topic</a:t>
                      </a:r>
                    </a:p>
                  </a:txBody>
                  <a:tcPr>
                    <a:solidFill>
                      <a:srgbClr val="0E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  <a:latin typeface="Avenir Next"/>
                        </a:defRPr>
                      </a:pPr>
                      <a:r>
                        <a:t>谁发布</a:t>
                      </a:r>
                    </a:p>
                  </a:txBody>
                  <a:tcPr>
                    <a:solidFill>
                      <a:srgbClr val="0E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  <a:latin typeface="Avenir Next"/>
                        </a:defRPr>
                      </a:pPr>
                      <a:r>
                        <a:t>谁订阅</a:t>
                      </a:r>
                    </a:p>
                  </a:txBody>
                  <a:tcPr>
                    <a:solidFill>
                      <a:srgbClr val="0E1F3A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E1F3A"/>
                          </a:solidFill>
                          <a:latin typeface="PingFang SC"/>
                        </a:defRPr>
                      </a:pPr>
                      <a:r>
                        <a:t>parking/lot/A01/status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E1F3A"/>
                          </a:solidFill>
                          <a:latin typeface="PingFang SC"/>
                        </a:defRPr>
                      </a:pPr>
                      <a:r>
                        <a:t>车位传感器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E1F3A"/>
                          </a:solidFill>
                          <a:latin typeface="PingFang SC"/>
                        </a:defRPr>
                      </a:pPr>
                      <a:r>
                        <a:t>大屏 / 统计服务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E1F3A"/>
                          </a:solidFill>
                          <a:latin typeface="PingFang SC"/>
                        </a:defRPr>
                      </a:pPr>
                      <a:r>
                        <a:t>parking/lot/+/status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E1F3A"/>
                          </a:solidFill>
                          <a:latin typeface="PingFang SC"/>
                        </a:defRPr>
                      </a:pPr>
                      <a:r>
                        <a:t>多个车位传感器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E1F3A"/>
                          </a:solidFill>
                          <a:latin typeface="PingFang SC"/>
                        </a:defRPr>
                      </a:pPr>
                      <a:r>
                        <a:t>大屏 / 统计服务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E1F3A"/>
                          </a:solidFill>
                          <a:latin typeface="PingFang SC"/>
                        </a:defRPr>
                      </a:pPr>
                      <a:r>
                        <a:t>parking/stats/summary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E1F3A"/>
                          </a:solidFill>
                          <a:latin typeface="PingFang SC"/>
                        </a:defRPr>
                      </a:pPr>
                      <a:r>
                        <a:t>统计服务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E1F3A"/>
                          </a:solidFill>
                          <a:latin typeface="PingFang SC"/>
                        </a:defRPr>
                      </a:pPr>
                      <a:r>
                        <a:t>入口道闸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E1F3A"/>
                          </a:solidFill>
                          <a:latin typeface="PingFang SC"/>
                        </a:defRPr>
                      </a:pPr>
                      <a:r>
                        <a:t>parking/gate/request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E1F3A"/>
                          </a:solidFill>
                          <a:latin typeface="PingFang SC"/>
                        </a:defRPr>
                      </a:pPr>
                      <a:r>
                        <a:t>车辆请求模拟器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E1F3A"/>
                          </a:solidFill>
                          <a:latin typeface="PingFang SC"/>
                        </a:defRPr>
                      </a:pPr>
                      <a:r>
                        <a:t>入口道闸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E1F3A"/>
                          </a:solidFill>
                          <a:latin typeface="PingFang SC"/>
                        </a:defRPr>
                      </a:pPr>
                      <a:r>
                        <a:t>parking/gate/entry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E1F3A"/>
                          </a:solidFill>
                          <a:latin typeface="PingFang SC"/>
                        </a:defRPr>
                      </a:pPr>
                      <a:r>
                        <a:t>入口道闸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E1F3A"/>
                          </a:solidFill>
                          <a:latin typeface="PingFang SC"/>
                        </a:defRPr>
                      </a:pPr>
                      <a:r>
                        <a:t>可继续扩展给显示端或日志系统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544068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586069"/>
                </a:solidFill>
                <a:latin typeface="PingFang SC"/>
              </a:defRPr>
            </a:pPr>
            <a:r>
              <a:t>这样设计的好处：消息职责清楚，后面如果要加数据库、预约、计费，也能直接继续扩展。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E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E1F3A"/>
                </a:solidFill>
                <a:latin typeface="PingFang SC"/>
              </a:rPr>
              <a:t>4. 这次我补充了什么</a:t>
            </a:r>
          </a:p>
          <a:p>
            <a:r>
              <a:rPr sz="1400">
                <a:solidFill>
                  <a:srgbClr val="586069"/>
                </a:solidFill>
                <a:latin typeface="PingFang SC"/>
              </a:rPr>
              <a:t>保留学生作业风格，只做了小幅但有效的完善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50292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0E1F3A"/>
                </a:solidFill>
                <a:latin typeface="PingFang SC"/>
              </a:defRPr>
            </a:pPr>
            <a:r>
              <a:t>新增 `publisher_vehicle_request.py`，模拟车辆到达停车场入口。</a:t>
            </a:r>
          </a:p>
          <a:p>
            <a:pPr>
              <a:spcAft>
                <a:spcPts val="1200"/>
              </a:spcAft>
              <a:defRPr sz="1900">
                <a:solidFill>
                  <a:srgbClr val="0E1F3A"/>
                </a:solidFill>
                <a:latin typeface="PingFang SC"/>
              </a:defRPr>
            </a:pPr>
            <a:r>
              <a:t>改写 `subscriber_gateway.py`，让道闸根据空闲车位数量决定开闸或等待。</a:t>
            </a:r>
          </a:p>
          <a:p>
            <a:pPr>
              <a:spcAft>
                <a:spcPts val="1200"/>
              </a:spcAft>
              <a:defRPr sz="1900">
                <a:solidFill>
                  <a:srgbClr val="0E1F3A"/>
                </a:solidFill>
                <a:latin typeface="PingFang SC"/>
              </a:defRPr>
            </a:pPr>
            <a:r>
              <a:t>优化显示与统计逻辑，增加 unknown 状态，避免系统刚启动时数据不完整。</a:t>
            </a:r>
          </a:p>
          <a:p>
            <a:pPr>
              <a:spcAft>
                <a:spcPts val="1200"/>
              </a:spcAft>
              <a:defRPr sz="1900">
                <a:solidFill>
                  <a:srgbClr val="0E1F3A"/>
                </a:solidFill>
                <a:latin typeface="PingFang SC"/>
              </a:defRPr>
            </a:pPr>
            <a:r>
              <a:t>修正 `requirements.txt`，补写 README，方便运行和展示。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828800"/>
            <a:ext cx="4572000" cy="347472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E1F3A"/>
                </a:solidFill>
                <a:latin typeface="PingFang SC"/>
              </a:defRPr>
            </a:pPr>
            <a:r>
              <a:t>展示时可以这样讲</a:t>
            </a:r>
          </a:p>
          <a:p>
            <a:pPr>
              <a:defRPr sz="1800">
                <a:solidFill>
                  <a:srgbClr val="586069"/>
                </a:solidFill>
                <a:latin typeface="PingFang SC"/>
              </a:defRPr>
            </a:pPr>
            <a:r>
              <a:t>1. 先展示传感器不断发布车位状态</a:t>
            </a:r>
          </a:p>
          <a:p>
            <a:pPr>
              <a:defRPr sz="1800">
                <a:solidFill>
                  <a:srgbClr val="586069"/>
                </a:solidFill>
                <a:latin typeface="PingFang SC"/>
              </a:defRPr>
            </a:pPr>
            <a:r>
              <a:t>2. 再展示统计服务如何汇总 free_lots</a:t>
            </a:r>
          </a:p>
          <a:p>
            <a:pPr>
              <a:defRPr sz="1800">
                <a:solidFill>
                  <a:srgbClr val="586069"/>
                </a:solidFill>
                <a:latin typeface="PingFang SC"/>
              </a:defRPr>
            </a:pPr>
            <a:r>
              <a:t>3. 最后演示车辆请求进入，道闸根据统计结果开闸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E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E1F3A"/>
                </a:solidFill>
                <a:latin typeface="PingFang SC"/>
              </a:rPr>
              <a:t>5. 联调结果</a:t>
            </a:r>
          </a:p>
          <a:p>
            <a:r>
              <a:rPr sz="1400">
                <a:solidFill>
                  <a:srgbClr val="586069"/>
                </a:solidFill>
                <a:latin typeface="PingFang SC"/>
              </a:rPr>
              <a:t>已经在公共 MQTT Broker 上完成短时联调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0E1F3A"/>
                </a:solidFill>
                <a:latin typeface="PingFang SC"/>
              </a:defRPr>
            </a:pPr>
            <a:r>
              <a:t>统计服务能持续输出 free_lots / occupied_lots / unknown_lots。</a:t>
            </a:r>
          </a:p>
          <a:p>
            <a:pPr>
              <a:spcAft>
                <a:spcPts val="1000"/>
              </a:spcAft>
              <a:defRPr sz="1900">
                <a:solidFill>
                  <a:srgbClr val="0E1F3A"/>
                </a:solidFill>
                <a:latin typeface="PingFang SC"/>
              </a:defRPr>
            </a:pPr>
            <a:r>
              <a:t>车辆请求发出后，道闸能根据实时统计结果作出开闸判断。</a:t>
            </a:r>
          </a:p>
          <a:p>
            <a:pPr>
              <a:spcAft>
                <a:spcPts val="1000"/>
              </a:spcAft>
              <a:defRPr sz="1900">
                <a:solidFill>
                  <a:srgbClr val="0E1F3A"/>
                </a:solidFill>
                <a:latin typeface="PingFang SC"/>
              </a:defRPr>
            </a:pPr>
            <a:r>
              <a:t>整个链路证明了 publish / subscribe + 多模块联动已经跑通。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108960"/>
            <a:ext cx="10149840" cy="2286000"/>
          </a:xfrm>
          <a:prstGeom prst="roundRect">
            <a:avLst/>
          </a:prstGeom>
          <a:solidFill>
            <a:srgbClr val="0E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383280"/>
            <a:ext cx="96926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ourier New"/>
              </a:defRPr>
            </a:pPr>
            <a:r>
              <a:t>入口道闸已连接，等待车辆到达信号...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ourier New"/>
              </a:defRPr>
            </a:pPr>
            <a:r>
              <a:t>道闸同步统计信息: 当前空闲车位 1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ourier New"/>
              </a:defRPr>
            </a:pPr>
            <a:r>
              <a:t>道闸同步统计信息: 当前空闲车位 4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ourier New"/>
              </a:defRPr>
            </a:pPr>
            <a:r>
              <a:t>道闸已开闸: CAR-101 可以进入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ourier New"/>
              </a:defRPr>
            </a:pPr>
            <a:r>
              <a:t>车辆入场请求已发送: {'vehicle_id': 'CAR-101', 'request_time': '2026-03-26 02:48:08'}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E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E1F3A"/>
                </a:solidFill>
                <a:latin typeface="PingFang SC"/>
              </a:rPr>
              <a:t>6. 总结与下一步</a:t>
            </a:r>
          </a:p>
          <a:p>
            <a:r>
              <a:rPr sz="1400">
                <a:solidFill>
                  <a:srgbClr val="586069"/>
                </a:solidFill>
                <a:latin typeface="PingFang SC"/>
              </a:rPr>
              <a:t>当前版本已经足够完成这周展示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E1F3A"/>
                </a:solidFill>
                <a:latin typeface="PingFang SC"/>
              </a:defRPr>
            </a:pPr>
            <a:r>
              <a:t>目前已经完成：可运行原型、Topic 设计、README、课程展示 PPT。</a:t>
            </a:r>
          </a:p>
          <a:p>
            <a:pPr>
              <a:spcAft>
                <a:spcPts val="1000"/>
              </a:spcAft>
              <a:defRPr sz="2200">
                <a:solidFill>
                  <a:srgbClr val="0E1F3A"/>
                </a:solidFill>
                <a:latin typeface="PingFang SC"/>
              </a:defRPr>
            </a:pPr>
            <a:r>
              <a:t>展示重点不要讲太大，重点讲“我们先做出了一个能跑通的停车 MQTT 原型”。</a:t>
            </a:r>
          </a:p>
          <a:p>
            <a:pPr>
              <a:spcAft>
                <a:spcPts val="1000"/>
              </a:spcAft>
              <a:defRPr sz="2200">
                <a:solidFill>
                  <a:srgbClr val="0E1F3A"/>
                </a:solidFill>
                <a:latin typeface="PingFang SC"/>
              </a:defRPr>
            </a:pPr>
            <a:r>
              <a:t>下一步可以继续扩展：预约车位、车牌识别、数据库记录、Web 可视化。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212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98393"/>
                </a:solidFill>
                <a:latin typeface="Avenir Nex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