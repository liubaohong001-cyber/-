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005840"/>
            <a:ext cx="10698480" cy="475488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508760"/>
            <a:ext cx="9601200" cy="2560320"/>
          </a:xfrm>
          <a:prstGeom prst="rect">
            <a:avLst/>
          </a:prstGeom>
          <a:noFill/>
        </p:spPr>
        <p:txBody>
          <a:bodyPr wrap="square">
            <a:spAutoFit/>
          </a:bodyPr>
          <a:lstStyle/>
          <a:p>
            <a:r>
              <a:rPr sz="3000" b="1">
                <a:solidFill>
                  <a:srgbClr val="192C4C"/>
                </a:solidFill>
                <a:latin typeface="Aptos"/>
              </a:rPr>
              <a:t>Smart Parking Prototype Based on MQTT</a:t>
            </a:r>
          </a:p>
          <a:p>
            <a:r>
              <a:rPr sz="1800">
                <a:solidFill>
                  <a:srgbClr val="235BA6"/>
                </a:solidFill>
                <a:latin typeface="Aptos"/>
              </a:rPr>
              <a:t>Week 4-5 Coursework Presentation</a:t>
            </a:r>
          </a:p>
          <a:p>
            <a:r>
              <a:rPr sz="1900">
                <a:solidFill>
                  <a:srgbClr val="2E3846"/>
                </a:solidFill>
                <a:latin typeface="Aptos"/>
              </a:rPr>
              <a:t>This project presents a simple Internet of Things prototype for a smart parking lot. The system uses MQTT to connect parking sensors, a display service, a statistics service, and an entry gate controller in one shared message-driven workflow.</a:t>
            </a:r>
          </a:p>
        </p:txBody>
      </p:sp>
      <p:sp>
        <p:nvSpPr>
          <p:cNvPr id="5" name="Rounded Rectangle 4"/>
          <p:cNvSpPr/>
          <p:nvPr/>
        </p:nvSpPr>
        <p:spPr>
          <a:xfrm>
            <a:off x="1051560" y="4526280"/>
            <a:ext cx="2331720" cy="548640"/>
          </a:xfrm>
          <a:prstGeom prst="roundRect">
            <a:avLst/>
          </a:prstGeom>
          <a:solidFill>
            <a:srgbClr val="2A8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ptos"/>
              </a:defRPr>
            </a:pPr>
            <a:r>
              <a:t>Python + MQTT</a:t>
            </a:r>
          </a:p>
        </p:txBody>
      </p:sp>
      <p:sp>
        <p:nvSpPr>
          <p:cNvPr id="6" name="TextBox 5"/>
          <p:cNvSpPr txBox="1"/>
          <p:nvPr/>
        </p:nvSpPr>
        <p:spPr>
          <a:xfrm>
            <a:off x="1051560" y="5257800"/>
            <a:ext cx="9326880" cy="457200"/>
          </a:xfrm>
          <a:prstGeom prst="rect">
            <a:avLst/>
          </a:prstGeom>
          <a:noFill/>
        </p:spPr>
        <p:txBody>
          <a:bodyPr wrap="none">
            <a:spAutoFit/>
          </a:bodyPr>
          <a:lstStyle/>
          <a:p>
            <a:pPr>
              <a:defRPr sz="1500">
                <a:solidFill>
                  <a:srgbClr val="2E3846"/>
                </a:solidFill>
                <a:latin typeface="Aptos"/>
              </a:defRPr>
            </a:pPr>
            <a:r>
              <a:t>The aim of this prototype is not to build a full commercial platform, but to demonstrate a clear and working MQTT communication architecture.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58368"/>
            <a:ext cx="10972800" cy="822960"/>
          </a:xfrm>
          <a:prstGeom prst="rect">
            <a:avLst/>
          </a:prstGeom>
          <a:noFill/>
        </p:spPr>
        <p:txBody>
          <a:bodyPr wrap="square">
            <a:spAutoFit/>
          </a:bodyPr>
          <a:lstStyle/>
          <a:p>
            <a:r>
              <a:rPr sz="2600" b="1">
                <a:solidFill>
                  <a:srgbClr val="192C4C"/>
                </a:solidFill>
                <a:latin typeface="Aptos"/>
              </a:rPr>
              <a:t>1. Background and Problem Statement</a:t>
            </a:r>
          </a:p>
          <a:p>
            <a:r>
              <a:rPr sz="1300">
                <a:solidFill>
                  <a:srgbClr val="2E3846"/>
                </a:solidFill>
                <a:latin typeface="Aptos"/>
              </a:rPr>
              <a:t>A parking lot needs fast status updates and better coordination between physical devices.</a:t>
            </a:r>
          </a:p>
        </p:txBody>
      </p:sp>
      <p:sp>
        <p:nvSpPr>
          <p:cNvPr id="4" name="Rounded Rectangle 3"/>
          <p:cNvSpPr/>
          <p:nvPr/>
        </p:nvSpPr>
        <p:spPr>
          <a:xfrm>
            <a:off x="777240" y="1600200"/>
            <a:ext cx="5212080" cy="438912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1832" y="1709928"/>
            <a:ext cx="4882896" cy="4169663"/>
          </a:xfrm>
          <a:prstGeom prst="rect">
            <a:avLst/>
          </a:prstGeom>
          <a:noFill/>
        </p:spPr>
        <p:txBody>
          <a:bodyPr wrap="square">
            <a:spAutoFit/>
          </a:bodyPr>
          <a:lstStyle/>
          <a:p>
            <a:pPr>
              <a:defRPr sz="1900" b="1">
                <a:solidFill>
                  <a:srgbClr val="192C4C"/>
                </a:solidFill>
                <a:latin typeface="Aptos"/>
              </a:defRPr>
            </a:pPr>
            <a:r>
              <a:t>Why this topic matters</a:t>
            </a:r>
          </a:p>
          <a:p>
            <a:pPr>
              <a:spcAft>
                <a:spcPts val="400"/>
              </a:spcAft>
              <a:defRPr sz="1500">
                <a:solidFill>
                  <a:srgbClr val="2E3846"/>
                </a:solidFill>
                <a:latin typeface="Aptos"/>
              </a:defRPr>
            </a:pPr>
            <a:r>
              <a:t>Drivers often waste time searching for available spaces, especially when the parking lot is busy.</a:t>
            </a:r>
          </a:p>
          <a:p>
            <a:pPr>
              <a:spcAft>
                <a:spcPts val="400"/>
              </a:spcAft>
              <a:defRPr sz="1500">
                <a:solidFill>
                  <a:srgbClr val="2E3846"/>
                </a:solidFill>
                <a:latin typeface="Aptos"/>
              </a:defRPr>
            </a:pPr>
            <a:r>
              <a:t>Traditional parking management is slow because information is updated manually or displayed too late.</a:t>
            </a:r>
          </a:p>
          <a:p>
            <a:pPr>
              <a:spcAft>
                <a:spcPts val="400"/>
              </a:spcAft>
              <a:defRPr sz="1500">
                <a:solidFill>
                  <a:srgbClr val="2E3846"/>
                </a:solidFill>
                <a:latin typeface="Aptos"/>
              </a:defRPr>
            </a:pPr>
            <a:r>
              <a:t>A message-based system can provide real-time communication between devices and services.</a:t>
            </a:r>
          </a:p>
          <a:p>
            <a:pPr>
              <a:spcAft>
                <a:spcPts val="400"/>
              </a:spcAft>
              <a:defRPr sz="1500">
                <a:solidFill>
                  <a:srgbClr val="2E3846"/>
                </a:solidFill>
                <a:latin typeface="Aptos"/>
              </a:defRPr>
            </a:pPr>
            <a:r>
              <a:t>MQTT is suitable for this scenario because it is lightweight, simple, and widely used in IoT projects.</a:t>
            </a:r>
          </a:p>
        </p:txBody>
      </p:sp>
      <p:sp>
        <p:nvSpPr>
          <p:cNvPr id="6" name="Rounded Rectangle 5"/>
          <p:cNvSpPr/>
          <p:nvPr/>
        </p:nvSpPr>
        <p:spPr>
          <a:xfrm>
            <a:off x="6217920" y="1600200"/>
            <a:ext cx="5212080" cy="438912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2512" y="1709928"/>
            <a:ext cx="4882896" cy="4169663"/>
          </a:xfrm>
          <a:prstGeom prst="rect">
            <a:avLst/>
          </a:prstGeom>
          <a:noFill/>
        </p:spPr>
        <p:txBody>
          <a:bodyPr wrap="square">
            <a:spAutoFit/>
          </a:bodyPr>
          <a:lstStyle/>
          <a:p>
            <a:pPr>
              <a:defRPr sz="1900" b="1">
                <a:solidFill>
                  <a:srgbClr val="192C4C"/>
                </a:solidFill>
                <a:latin typeface="Aptos"/>
              </a:defRPr>
            </a:pPr>
            <a:r>
              <a:t>What our prototype tries to solve</a:t>
            </a:r>
          </a:p>
          <a:p>
            <a:pPr>
              <a:spcAft>
                <a:spcPts val="400"/>
              </a:spcAft>
              <a:defRPr sz="1500">
                <a:solidFill>
                  <a:srgbClr val="2E3846"/>
                </a:solidFill>
                <a:latin typeface="Aptos"/>
              </a:defRPr>
            </a:pPr>
            <a:r>
              <a:t>Detect whether parking spaces are free or occupied through simulated sensors.</a:t>
            </a:r>
          </a:p>
          <a:p>
            <a:pPr>
              <a:spcAft>
                <a:spcPts val="400"/>
              </a:spcAft>
              <a:defRPr sz="1500">
                <a:solidFill>
                  <a:srgbClr val="2E3846"/>
                </a:solidFill>
                <a:latin typeface="Aptos"/>
              </a:defRPr>
            </a:pPr>
            <a:r>
              <a:t>Publish those updates to a broker so that multiple services can receive the same data immediately.</a:t>
            </a:r>
          </a:p>
          <a:p>
            <a:pPr>
              <a:spcAft>
                <a:spcPts val="400"/>
              </a:spcAft>
              <a:defRPr sz="1500">
                <a:solidFill>
                  <a:srgbClr val="2E3846"/>
                </a:solidFill>
                <a:latin typeface="Aptos"/>
              </a:defRPr>
            </a:pPr>
            <a:r>
              <a:t>Display the latest parking information in a simple monitoring dashboard.</a:t>
            </a:r>
          </a:p>
          <a:p>
            <a:pPr>
              <a:spcAft>
                <a:spcPts val="400"/>
              </a:spcAft>
              <a:defRPr sz="1500">
                <a:solidFill>
                  <a:srgbClr val="2E3846"/>
                </a:solidFill>
                <a:latin typeface="Aptos"/>
              </a:defRPr>
            </a:pPr>
            <a:r>
              <a:t>Use the number of free spaces to decide whether the entry gate should open for a new car.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58368"/>
            <a:ext cx="10972800" cy="822960"/>
          </a:xfrm>
          <a:prstGeom prst="rect">
            <a:avLst/>
          </a:prstGeom>
          <a:noFill/>
        </p:spPr>
        <p:txBody>
          <a:bodyPr wrap="square">
            <a:spAutoFit/>
          </a:bodyPr>
          <a:lstStyle/>
          <a:p>
            <a:r>
              <a:rPr sz="2600" b="1">
                <a:solidFill>
                  <a:srgbClr val="192C4C"/>
                </a:solidFill>
                <a:latin typeface="Aptos"/>
              </a:rPr>
              <a:t>2. System Architecture</a:t>
            </a:r>
          </a:p>
          <a:p>
            <a:r>
              <a:rPr sz="1300">
                <a:solidFill>
                  <a:srgbClr val="2E3846"/>
                </a:solidFill>
                <a:latin typeface="Aptos"/>
              </a:rPr>
              <a:t>The design follows a publish / subscribe model with one public MQTT broker in the center.</a:t>
            </a:r>
          </a:p>
        </p:txBody>
      </p:sp>
      <p:sp>
        <p:nvSpPr>
          <p:cNvPr id="4" name="Rounded Rectangle 3"/>
          <p:cNvSpPr/>
          <p:nvPr/>
        </p:nvSpPr>
        <p:spPr>
          <a:xfrm>
            <a:off x="822960" y="2011680"/>
            <a:ext cx="2148840" cy="914400"/>
          </a:xfrm>
          <a:prstGeom prst="roundRect">
            <a:avLst/>
          </a:prstGeom>
          <a:solidFill>
            <a:srgbClr val="2A8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ptos"/>
              </a:defRPr>
            </a:pPr>
            <a:r>
              <a:t>Parking Sensors</a:t>
            </a:r>
          </a:p>
          <a:p>
            <a:pPr>
              <a:defRPr sz="1600" b="1">
                <a:solidFill>
                  <a:srgbClr val="FFFFFF"/>
                </a:solidFill>
                <a:latin typeface="Aptos"/>
              </a:defRPr>
            </a:pPr>
            <a:r>
              <a:t>publisher_sensor.py</a:t>
            </a:r>
          </a:p>
        </p:txBody>
      </p:sp>
      <p:sp>
        <p:nvSpPr>
          <p:cNvPr id="5" name="Rounded Rectangle 4"/>
          <p:cNvSpPr/>
          <p:nvPr/>
        </p:nvSpPr>
        <p:spPr>
          <a:xfrm>
            <a:off x="822960" y="4069080"/>
            <a:ext cx="2148840" cy="914400"/>
          </a:xfrm>
          <a:prstGeom prst="roundRect">
            <a:avLst/>
          </a:prstGeom>
          <a:solidFill>
            <a:srgbClr val="DE85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ptos"/>
              </a:defRPr>
            </a:pPr>
            <a:r>
              <a:t>Vehicle Request Generator</a:t>
            </a:r>
          </a:p>
          <a:p>
            <a:pPr>
              <a:defRPr sz="1600" b="1">
                <a:solidFill>
                  <a:srgbClr val="FFFFFF"/>
                </a:solidFill>
                <a:latin typeface="Aptos"/>
              </a:defRPr>
            </a:pPr>
            <a:r>
              <a:t>publisher_vehicle_request.py</a:t>
            </a:r>
          </a:p>
        </p:txBody>
      </p:sp>
      <p:sp>
        <p:nvSpPr>
          <p:cNvPr id="6" name="Rounded Rectangle 5"/>
          <p:cNvSpPr/>
          <p:nvPr/>
        </p:nvSpPr>
        <p:spPr>
          <a:xfrm>
            <a:off x="4937760" y="2926080"/>
            <a:ext cx="2148840" cy="914400"/>
          </a:xfrm>
          <a:prstGeom prst="round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ptos"/>
              </a:defRPr>
            </a:pPr>
            <a:r>
              <a:t>MQTT Broker</a:t>
            </a:r>
          </a:p>
          <a:p>
            <a:pPr>
              <a:defRPr sz="1600" b="1">
                <a:solidFill>
                  <a:srgbClr val="FFFFFF"/>
                </a:solidFill>
                <a:latin typeface="Aptos"/>
              </a:defRPr>
            </a:pPr>
            <a:r>
              <a:t>broker.hivemq.com</a:t>
            </a:r>
          </a:p>
        </p:txBody>
      </p:sp>
      <p:sp>
        <p:nvSpPr>
          <p:cNvPr id="7" name="Rounded Rectangle 6"/>
          <p:cNvSpPr/>
          <p:nvPr/>
        </p:nvSpPr>
        <p:spPr>
          <a:xfrm>
            <a:off x="9189720" y="1417320"/>
            <a:ext cx="2148840" cy="914400"/>
          </a:xfrm>
          <a:prstGeom prst="roundRect">
            <a:avLst/>
          </a:prstGeom>
          <a:solidFill>
            <a:srgbClr val="2A8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ptos"/>
              </a:defRPr>
            </a:pPr>
            <a:r>
              <a:t>Display Service</a:t>
            </a:r>
          </a:p>
          <a:p>
            <a:pPr>
              <a:defRPr sz="1600" b="1">
                <a:solidFill>
                  <a:srgbClr val="FFFFFF"/>
                </a:solidFill>
                <a:latin typeface="Aptos"/>
              </a:defRPr>
            </a:pPr>
            <a:r>
              <a:t>subscriber_display.py</a:t>
            </a:r>
          </a:p>
        </p:txBody>
      </p:sp>
      <p:sp>
        <p:nvSpPr>
          <p:cNvPr id="8" name="Rounded Rectangle 7"/>
          <p:cNvSpPr/>
          <p:nvPr/>
        </p:nvSpPr>
        <p:spPr>
          <a:xfrm>
            <a:off x="9189720" y="2926080"/>
            <a:ext cx="2148840" cy="914400"/>
          </a:xfrm>
          <a:prstGeom prst="roundRect">
            <a:avLst/>
          </a:prstGeom>
          <a:solidFill>
            <a:srgbClr val="DE85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ptos"/>
              </a:defRPr>
            </a:pPr>
            <a:r>
              <a:t>Statistics Service</a:t>
            </a:r>
          </a:p>
          <a:p>
            <a:pPr>
              <a:defRPr sz="1600" b="1">
                <a:solidFill>
                  <a:srgbClr val="FFFFFF"/>
                </a:solidFill>
                <a:latin typeface="Aptos"/>
              </a:defRPr>
            </a:pPr>
            <a:r>
              <a:t>subscriber_stats.py</a:t>
            </a:r>
          </a:p>
        </p:txBody>
      </p:sp>
      <p:sp>
        <p:nvSpPr>
          <p:cNvPr id="9" name="Rounded Rectangle 8"/>
          <p:cNvSpPr/>
          <p:nvPr/>
        </p:nvSpPr>
        <p:spPr>
          <a:xfrm>
            <a:off x="9189720" y="4434840"/>
            <a:ext cx="2148840" cy="914400"/>
          </a:xfrm>
          <a:prstGeom prst="roundRect">
            <a:avLst/>
          </a:prstGeom>
          <a:solidFill>
            <a:srgbClr val="2A8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ptos"/>
              </a:defRPr>
            </a:pPr>
            <a:r>
              <a:t>Gate Controller</a:t>
            </a:r>
          </a:p>
          <a:p>
            <a:pPr>
              <a:defRPr sz="1600" b="1">
                <a:solidFill>
                  <a:srgbClr val="FFFFFF"/>
                </a:solidFill>
                <a:latin typeface="Aptos"/>
              </a:defRPr>
            </a:pPr>
            <a:r>
              <a:t>subscriber_gateway.py</a:t>
            </a:r>
          </a:p>
        </p:txBody>
      </p:sp>
      <p:sp>
        <p:nvSpPr>
          <p:cNvPr id="10" name="TextBox 9"/>
          <p:cNvSpPr txBox="1"/>
          <p:nvPr/>
        </p:nvSpPr>
        <p:spPr>
          <a:xfrm>
            <a:off x="3383280" y="2240280"/>
            <a:ext cx="365760" cy="365760"/>
          </a:xfrm>
          <a:prstGeom prst="rect">
            <a:avLst/>
          </a:prstGeom>
          <a:noFill/>
        </p:spPr>
        <p:txBody>
          <a:bodyPr wrap="none">
            <a:spAutoFit/>
          </a:bodyPr>
          <a:lstStyle/>
          <a:p>
            <a:pPr algn="ctr"/>
            <a:r>
              <a:rPr sz="2600" b="1">
                <a:solidFill>
                  <a:srgbClr val="192C4C"/>
                </a:solidFill>
              </a:rPr>
              <a:t>→</a:t>
            </a:r>
          </a:p>
        </p:txBody>
      </p:sp>
      <p:sp>
        <p:nvSpPr>
          <p:cNvPr id="11" name="TextBox 10"/>
          <p:cNvSpPr txBox="1"/>
          <p:nvPr/>
        </p:nvSpPr>
        <p:spPr>
          <a:xfrm>
            <a:off x="3383280" y="4297680"/>
            <a:ext cx="365760" cy="365760"/>
          </a:xfrm>
          <a:prstGeom prst="rect">
            <a:avLst/>
          </a:prstGeom>
          <a:noFill/>
        </p:spPr>
        <p:txBody>
          <a:bodyPr wrap="none">
            <a:spAutoFit/>
          </a:bodyPr>
          <a:lstStyle/>
          <a:p>
            <a:pPr algn="ctr"/>
            <a:r>
              <a:rPr sz="2600" b="1">
                <a:solidFill>
                  <a:srgbClr val="192C4C"/>
                </a:solidFill>
              </a:rPr>
              <a:t>→</a:t>
            </a:r>
          </a:p>
        </p:txBody>
      </p:sp>
      <p:sp>
        <p:nvSpPr>
          <p:cNvPr id="12" name="TextBox 11"/>
          <p:cNvSpPr txBox="1"/>
          <p:nvPr/>
        </p:nvSpPr>
        <p:spPr>
          <a:xfrm>
            <a:off x="8001000" y="1737360"/>
            <a:ext cx="365760" cy="365760"/>
          </a:xfrm>
          <a:prstGeom prst="rect">
            <a:avLst/>
          </a:prstGeom>
          <a:noFill/>
        </p:spPr>
        <p:txBody>
          <a:bodyPr wrap="none">
            <a:spAutoFit/>
          </a:bodyPr>
          <a:lstStyle/>
          <a:p>
            <a:pPr algn="ctr"/>
            <a:r>
              <a:rPr sz="2600" b="1">
                <a:solidFill>
                  <a:srgbClr val="192C4C"/>
                </a:solidFill>
              </a:rPr>
              <a:t>→</a:t>
            </a:r>
          </a:p>
        </p:txBody>
      </p:sp>
      <p:sp>
        <p:nvSpPr>
          <p:cNvPr id="13" name="TextBox 12"/>
          <p:cNvSpPr txBox="1"/>
          <p:nvPr/>
        </p:nvSpPr>
        <p:spPr>
          <a:xfrm>
            <a:off x="8001000" y="3246120"/>
            <a:ext cx="365760" cy="365760"/>
          </a:xfrm>
          <a:prstGeom prst="rect">
            <a:avLst/>
          </a:prstGeom>
          <a:noFill/>
        </p:spPr>
        <p:txBody>
          <a:bodyPr wrap="none">
            <a:spAutoFit/>
          </a:bodyPr>
          <a:lstStyle/>
          <a:p>
            <a:pPr algn="ctr"/>
            <a:r>
              <a:rPr sz="2600" b="1">
                <a:solidFill>
                  <a:srgbClr val="192C4C"/>
                </a:solidFill>
              </a:rPr>
              <a:t>→</a:t>
            </a:r>
          </a:p>
        </p:txBody>
      </p:sp>
      <p:sp>
        <p:nvSpPr>
          <p:cNvPr id="14" name="TextBox 13"/>
          <p:cNvSpPr txBox="1"/>
          <p:nvPr/>
        </p:nvSpPr>
        <p:spPr>
          <a:xfrm>
            <a:off x="8001000" y="4754880"/>
            <a:ext cx="365760" cy="365760"/>
          </a:xfrm>
          <a:prstGeom prst="rect">
            <a:avLst/>
          </a:prstGeom>
          <a:noFill/>
        </p:spPr>
        <p:txBody>
          <a:bodyPr wrap="none">
            <a:spAutoFit/>
          </a:bodyPr>
          <a:lstStyle/>
          <a:p>
            <a:pPr algn="ctr"/>
            <a:r>
              <a:rPr sz="2600" b="1">
                <a:solidFill>
                  <a:srgbClr val="192C4C"/>
                </a:solidFill>
              </a:rPr>
              <a:t>→</a:t>
            </a:r>
          </a:p>
        </p:txBody>
      </p:sp>
      <p:sp>
        <p:nvSpPr>
          <p:cNvPr id="15" name="Rounded Rectangle 14"/>
          <p:cNvSpPr/>
          <p:nvPr/>
        </p:nvSpPr>
        <p:spPr>
          <a:xfrm>
            <a:off x="868680" y="5486400"/>
            <a:ext cx="10515600" cy="731520"/>
          </a:xfrm>
          <a:prstGeom prst="roundRect">
            <a:avLst/>
          </a:prstGeom>
          <a:solidFill>
            <a:srgbClr val="E4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3271" y="5596128"/>
            <a:ext cx="10186416" cy="512064"/>
          </a:xfrm>
          <a:prstGeom prst="rect">
            <a:avLst/>
          </a:prstGeom>
          <a:noFill/>
        </p:spPr>
        <p:txBody>
          <a:bodyPr wrap="square" anchor="t">
            <a:spAutoFit/>
          </a:bodyPr>
          <a:lstStyle/>
          <a:p>
            <a:pPr>
              <a:spcAft>
                <a:spcPts val="600"/>
              </a:spcAft>
              <a:defRPr sz="1400" b="0">
                <a:solidFill>
                  <a:srgbClr val="192C4C"/>
                </a:solidFill>
                <a:latin typeface="Aptos"/>
              </a:defRPr>
            </a:pPr>
            <a:r>
              <a:t>The architecture separates data producers from data consumers. Parking sensors publish slot status messages. A second publisher simulates vehicle arrival requests at the entrance. The display service subscribes to all parking updates and shows the latest state. The statistics service calculates how many spaces are free and publishes a summary. The gate controller listens to both the vehicle request topic and the statistics topic, then decides whether to allow a car to enter. This structure keeps the system modular and easy to extend.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58368"/>
            <a:ext cx="10972800" cy="822960"/>
          </a:xfrm>
          <a:prstGeom prst="rect">
            <a:avLst/>
          </a:prstGeom>
          <a:noFill/>
        </p:spPr>
        <p:txBody>
          <a:bodyPr wrap="square">
            <a:spAutoFit/>
          </a:bodyPr>
          <a:lstStyle/>
          <a:p>
            <a:r>
              <a:rPr sz="2600" b="1">
                <a:solidFill>
                  <a:srgbClr val="192C4C"/>
                </a:solidFill>
                <a:latin typeface="Aptos"/>
              </a:rPr>
              <a:t>3. MQTT Topics and Data Flow</a:t>
            </a:r>
          </a:p>
          <a:p>
            <a:r>
              <a:rPr sz="1300">
                <a:solidFill>
                  <a:srgbClr val="2E3846"/>
                </a:solidFill>
                <a:latin typeface="Aptos"/>
              </a:rPr>
              <a:t>Each topic has a clear responsibility so that the message flow remains easy to understand.</a:t>
            </a:r>
          </a:p>
        </p:txBody>
      </p:sp>
      <p:graphicFrame>
        <p:nvGraphicFramePr>
          <p:cNvPr id="4" name="Table 3"/>
          <p:cNvGraphicFramePr>
            <a:graphicFrameLocks noGrp="1"/>
          </p:cNvGraphicFramePr>
          <p:nvPr/>
        </p:nvGraphicFramePr>
        <p:xfrm>
          <a:off x="822960" y="1645920"/>
          <a:ext cx="10515600" cy="3291840"/>
        </p:xfrm>
        <a:graphic>
          <a:graphicData uri="http://schemas.openxmlformats.org/drawingml/2006/table">
            <a:tbl>
              <a:tblPr firstRow="1" bandRow="1">
                <a:tableStyleId>{5C22544A-7EE6-4342-B048-85BDC9FD1C3A}</a:tableStyleId>
              </a:tblPr>
              <a:tblGrid>
                <a:gridCol w="3505200"/>
                <a:gridCol w="3505200"/>
                <a:gridCol w="3505200"/>
              </a:tblGrid>
              <a:tr h="548640">
                <a:tc>
                  <a:txBody>
                    <a:bodyPr/>
                    <a:lstStyle/>
                    <a:p>
                      <a:pPr>
                        <a:defRPr sz="1600" b="1">
                          <a:solidFill>
                            <a:srgbClr val="FFFFFF"/>
                          </a:solidFill>
                          <a:latin typeface="Aptos"/>
                        </a:defRPr>
                      </a:pPr>
                      <a:r>
                        <a:t>Topic</a:t>
                      </a:r>
                    </a:p>
                  </a:txBody>
                  <a:tcPr>
                    <a:solidFill>
                      <a:srgbClr val="192C4C"/>
                    </a:solidFill>
                  </a:tcPr>
                </a:tc>
                <a:tc>
                  <a:txBody>
                    <a:bodyPr/>
                    <a:lstStyle/>
                    <a:p>
                      <a:pPr>
                        <a:defRPr sz="1600" b="1">
                          <a:solidFill>
                            <a:srgbClr val="FFFFFF"/>
                          </a:solidFill>
                          <a:latin typeface="Aptos"/>
                        </a:defRPr>
                      </a:pPr>
                      <a:r>
                        <a:t>Publisher</a:t>
                      </a:r>
                    </a:p>
                  </a:txBody>
                  <a:tcPr>
                    <a:solidFill>
                      <a:srgbClr val="192C4C"/>
                    </a:solidFill>
                  </a:tcPr>
                </a:tc>
                <a:tc>
                  <a:txBody>
                    <a:bodyPr/>
                    <a:lstStyle/>
                    <a:p>
                      <a:pPr>
                        <a:defRPr sz="1600" b="1">
                          <a:solidFill>
                            <a:srgbClr val="FFFFFF"/>
                          </a:solidFill>
                          <a:latin typeface="Aptos"/>
                        </a:defRPr>
                      </a:pPr>
                      <a:r>
                        <a:t>Purpose</a:t>
                      </a:r>
                    </a:p>
                  </a:txBody>
                  <a:tcPr>
                    <a:solidFill>
                      <a:srgbClr val="192C4C"/>
                    </a:solidFill>
                  </a:tcPr>
                </a:tc>
              </a:tr>
              <a:tr h="548640">
                <a:tc>
                  <a:txBody>
                    <a:bodyPr/>
                    <a:lstStyle/>
                    <a:p>
                      <a:pPr>
                        <a:defRPr sz="1300">
                          <a:solidFill>
                            <a:srgbClr val="2E3846"/>
                          </a:solidFill>
                          <a:latin typeface="Aptos"/>
                        </a:defRPr>
                      </a:pPr>
                      <a:r>
                        <a:t>parking/lot/A01/status</a:t>
                      </a:r>
                    </a:p>
                  </a:txBody>
                  <a:tcPr>
                    <a:solidFill>
                      <a:srgbClr val="FFFFFF"/>
                    </a:solidFill>
                  </a:tcPr>
                </a:tc>
                <a:tc>
                  <a:txBody>
                    <a:bodyPr/>
                    <a:lstStyle/>
                    <a:p>
                      <a:pPr>
                        <a:defRPr sz="1300">
                          <a:solidFill>
                            <a:srgbClr val="2E3846"/>
                          </a:solidFill>
                          <a:latin typeface="Aptos"/>
                        </a:defRPr>
                      </a:pPr>
                      <a:r>
                        <a:t>Parking sensors</a:t>
                      </a:r>
                    </a:p>
                  </a:txBody>
                  <a:tcPr>
                    <a:solidFill>
                      <a:srgbClr val="FFFFFF"/>
                    </a:solidFill>
                  </a:tcPr>
                </a:tc>
                <a:tc>
                  <a:txBody>
                    <a:bodyPr/>
                    <a:lstStyle/>
                    <a:p>
                      <a:pPr>
                        <a:defRPr sz="1300">
                          <a:solidFill>
                            <a:srgbClr val="2E3846"/>
                          </a:solidFill>
                          <a:latin typeface="Aptos"/>
                        </a:defRPr>
                      </a:pPr>
                      <a:r>
                        <a:t>Publishes the current state of one specific parking slot.</a:t>
                      </a:r>
                    </a:p>
                  </a:txBody>
                  <a:tcPr>
                    <a:solidFill>
                      <a:srgbClr val="FFFFFF"/>
                    </a:solidFill>
                  </a:tcPr>
                </a:tc>
              </a:tr>
              <a:tr h="548640">
                <a:tc>
                  <a:txBody>
                    <a:bodyPr/>
                    <a:lstStyle/>
                    <a:p>
                      <a:pPr>
                        <a:defRPr sz="1300">
                          <a:solidFill>
                            <a:srgbClr val="2E3846"/>
                          </a:solidFill>
                          <a:latin typeface="Aptos"/>
                        </a:defRPr>
                      </a:pPr>
                      <a:r>
                        <a:t>parking/lot/+/status</a:t>
                      </a:r>
                    </a:p>
                  </a:txBody>
                  <a:tcPr>
                    <a:solidFill>
                      <a:srgbClr val="FFFFFF"/>
                    </a:solidFill>
                  </a:tcPr>
                </a:tc>
                <a:tc>
                  <a:txBody>
                    <a:bodyPr/>
                    <a:lstStyle/>
                    <a:p>
                      <a:pPr>
                        <a:defRPr sz="1300">
                          <a:solidFill>
                            <a:srgbClr val="2E3846"/>
                          </a:solidFill>
                          <a:latin typeface="Aptos"/>
                        </a:defRPr>
                      </a:pPr>
                      <a:r>
                        <a:t>All parking sensors</a:t>
                      </a:r>
                    </a:p>
                  </a:txBody>
                  <a:tcPr>
                    <a:solidFill>
                      <a:srgbClr val="FFFFFF"/>
                    </a:solidFill>
                  </a:tcPr>
                </a:tc>
                <a:tc>
                  <a:txBody>
                    <a:bodyPr/>
                    <a:lstStyle/>
                    <a:p>
                      <a:pPr>
                        <a:defRPr sz="1300">
                          <a:solidFill>
                            <a:srgbClr val="2E3846"/>
                          </a:solidFill>
                          <a:latin typeface="Aptos"/>
                        </a:defRPr>
                      </a:pPr>
                      <a:r>
                        <a:t>Allows subscribers to receive updates from all parking slots.</a:t>
                      </a:r>
                    </a:p>
                  </a:txBody>
                  <a:tcPr>
                    <a:solidFill>
                      <a:srgbClr val="FFFFFF"/>
                    </a:solidFill>
                  </a:tcPr>
                </a:tc>
              </a:tr>
              <a:tr h="548640">
                <a:tc>
                  <a:txBody>
                    <a:bodyPr/>
                    <a:lstStyle/>
                    <a:p>
                      <a:pPr>
                        <a:defRPr sz="1300">
                          <a:solidFill>
                            <a:srgbClr val="2E3846"/>
                          </a:solidFill>
                          <a:latin typeface="Aptos"/>
                        </a:defRPr>
                      </a:pPr>
                      <a:r>
                        <a:t>parking/stats/summary</a:t>
                      </a:r>
                    </a:p>
                  </a:txBody>
                  <a:tcPr>
                    <a:solidFill>
                      <a:srgbClr val="FFFFFF"/>
                    </a:solidFill>
                  </a:tcPr>
                </a:tc>
                <a:tc>
                  <a:txBody>
                    <a:bodyPr/>
                    <a:lstStyle/>
                    <a:p>
                      <a:pPr>
                        <a:defRPr sz="1300">
                          <a:solidFill>
                            <a:srgbClr val="2E3846"/>
                          </a:solidFill>
                          <a:latin typeface="Aptos"/>
                        </a:defRPr>
                      </a:pPr>
                      <a:r>
                        <a:t>Statistics service</a:t>
                      </a:r>
                    </a:p>
                  </a:txBody>
                  <a:tcPr>
                    <a:solidFill>
                      <a:srgbClr val="FFFFFF"/>
                    </a:solidFill>
                  </a:tcPr>
                </a:tc>
                <a:tc>
                  <a:txBody>
                    <a:bodyPr/>
                    <a:lstStyle/>
                    <a:p>
                      <a:pPr>
                        <a:defRPr sz="1300">
                          <a:solidFill>
                            <a:srgbClr val="2E3846"/>
                          </a:solidFill>
                          <a:latin typeface="Aptos"/>
                        </a:defRPr>
                      </a:pPr>
                      <a:r>
                        <a:t>Sends the total number of free and occupied slots.</a:t>
                      </a:r>
                    </a:p>
                  </a:txBody>
                  <a:tcPr>
                    <a:solidFill>
                      <a:srgbClr val="FFFFFF"/>
                    </a:solidFill>
                  </a:tcPr>
                </a:tc>
              </a:tr>
              <a:tr h="548640">
                <a:tc>
                  <a:txBody>
                    <a:bodyPr/>
                    <a:lstStyle/>
                    <a:p>
                      <a:pPr>
                        <a:defRPr sz="1300">
                          <a:solidFill>
                            <a:srgbClr val="2E3846"/>
                          </a:solidFill>
                          <a:latin typeface="Aptos"/>
                        </a:defRPr>
                      </a:pPr>
                      <a:r>
                        <a:t>parking/gate/request</a:t>
                      </a:r>
                    </a:p>
                  </a:txBody>
                  <a:tcPr>
                    <a:solidFill>
                      <a:srgbClr val="FFFFFF"/>
                    </a:solidFill>
                  </a:tcPr>
                </a:tc>
                <a:tc>
                  <a:txBody>
                    <a:bodyPr/>
                    <a:lstStyle/>
                    <a:p>
                      <a:pPr>
                        <a:defRPr sz="1300">
                          <a:solidFill>
                            <a:srgbClr val="2E3846"/>
                          </a:solidFill>
                          <a:latin typeface="Aptos"/>
                        </a:defRPr>
                      </a:pPr>
                      <a:r>
                        <a:t>Vehicle request generator</a:t>
                      </a:r>
                    </a:p>
                  </a:txBody>
                  <a:tcPr>
                    <a:solidFill>
                      <a:srgbClr val="FFFFFF"/>
                    </a:solidFill>
                  </a:tcPr>
                </a:tc>
                <a:tc>
                  <a:txBody>
                    <a:bodyPr/>
                    <a:lstStyle/>
                    <a:p>
                      <a:pPr>
                        <a:defRPr sz="1300">
                          <a:solidFill>
                            <a:srgbClr val="2E3846"/>
                          </a:solidFill>
                          <a:latin typeface="Aptos"/>
                        </a:defRPr>
                      </a:pPr>
                      <a:r>
                        <a:t>Represents a car asking to enter the parking area.</a:t>
                      </a:r>
                    </a:p>
                  </a:txBody>
                  <a:tcPr>
                    <a:solidFill>
                      <a:srgbClr val="FFFFFF"/>
                    </a:solidFill>
                  </a:tcPr>
                </a:tc>
              </a:tr>
              <a:tr h="548640">
                <a:tc>
                  <a:txBody>
                    <a:bodyPr/>
                    <a:lstStyle/>
                    <a:p>
                      <a:pPr>
                        <a:defRPr sz="1300">
                          <a:solidFill>
                            <a:srgbClr val="2E3846"/>
                          </a:solidFill>
                          <a:latin typeface="Aptos"/>
                        </a:defRPr>
                      </a:pPr>
                      <a:r>
                        <a:t>parking/gate/entry</a:t>
                      </a:r>
                    </a:p>
                  </a:txBody>
                  <a:tcPr>
                    <a:solidFill>
                      <a:srgbClr val="FFFFFF"/>
                    </a:solidFill>
                  </a:tcPr>
                </a:tc>
                <a:tc>
                  <a:txBody>
                    <a:bodyPr/>
                    <a:lstStyle/>
                    <a:p>
                      <a:pPr>
                        <a:defRPr sz="1300">
                          <a:solidFill>
                            <a:srgbClr val="2E3846"/>
                          </a:solidFill>
                          <a:latin typeface="Aptos"/>
                        </a:defRPr>
                      </a:pPr>
                      <a:r>
                        <a:t>Gate controller</a:t>
                      </a:r>
                    </a:p>
                  </a:txBody>
                  <a:tcPr>
                    <a:solidFill>
                      <a:srgbClr val="FFFFFF"/>
                    </a:solidFill>
                  </a:tcPr>
                </a:tc>
                <a:tc>
                  <a:txBody>
                    <a:bodyPr/>
                    <a:lstStyle/>
                    <a:p>
                      <a:pPr>
                        <a:defRPr sz="1300">
                          <a:solidFill>
                            <a:srgbClr val="2E3846"/>
                          </a:solidFill>
                          <a:latin typeface="Aptos"/>
                        </a:defRPr>
                      </a:pPr>
                      <a:r>
                        <a:t>Returns the final decision such as open or wait.</a:t>
                      </a:r>
                    </a:p>
                  </a:txBody>
                  <a:tcPr>
                    <a:solidFill>
                      <a:srgbClr val="FFFFFF"/>
                    </a:solidFill>
                  </a:tcPr>
                </a:tc>
              </a:tr>
            </a:tbl>
          </a:graphicData>
        </a:graphic>
      </p:graphicFrame>
      <p:sp>
        <p:nvSpPr>
          <p:cNvPr id="5" name="Rounded Rectangle 4"/>
          <p:cNvSpPr/>
          <p:nvPr/>
        </p:nvSpPr>
        <p:spPr>
          <a:xfrm>
            <a:off x="868680" y="5212080"/>
            <a:ext cx="10469880" cy="914400"/>
          </a:xfrm>
          <a:prstGeom prst="roundRect">
            <a:avLst/>
          </a:prstGeom>
          <a:solidFill>
            <a:srgbClr val="E4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5321808"/>
            <a:ext cx="10140696" cy="694944"/>
          </a:xfrm>
          <a:prstGeom prst="rect">
            <a:avLst/>
          </a:prstGeom>
          <a:noFill/>
        </p:spPr>
        <p:txBody>
          <a:bodyPr wrap="square" anchor="t">
            <a:spAutoFit/>
          </a:bodyPr>
          <a:lstStyle/>
          <a:p>
            <a:pPr>
              <a:spcAft>
                <a:spcPts val="600"/>
              </a:spcAft>
              <a:defRPr sz="1400" b="0">
                <a:solidFill>
                  <a:srgbClr val="192C4C"/>
                </a:solidFill>
                <a:latin typeface="Aptos"/>
              </a:defRPr>
            </a:pPr>
            <a:r>
              <a:t>The overall data flow is straightforward. Sensor messages are published first, then the statistics service aggregates them and produces a summary. When a vehicle request arrives, the gate controller checks the latest summary and sends an entry decision. Because all modules communicate through the broker, the system remains loosely coupled and more flexible than a direct device-to-device design.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58368"/>
            <a:ext cx="10972800" cy="822960"/>
          </a:xfrm>
          <a:prstGeom prst="rect">
            <a:avLst/>
          </a:prstGeom>
          <a:noFill/>
        </p:spPr>
        <p:txBody>
          <a:bodyPr wrap="square">
            <a:spAutoFit/>
          </a:bodyPr>
          <a:lstStyle/>
          <a:p>
            <a:r>
              <a:rPr sz="2600" b="1">
                <a:solidFill>
                  <a:srgbClr val="192C4C"/>
                </a:solidFill>
                <a:latin typeface="Aptos"/>
              </a:rPr>
              <a:t>4. Implementation Details</a:t>
            </a:r>
          </a:p>
          <a:p>
            <a:r>
              <a:rPr sz="1300">
                <a:solidFill>
                  <a:srgbClr val="2E3846"/>
                </a:solidFill>
                <a:latin typeface="Aptos"/>
              </a:rPr>
              <a:t>The codebase is small, but each Python module has a distinct role in the prototype.</a:t>
            </a:r>
          </a:p>
        </p:txBody>
      </p:sp>
      <p:sp>
        <p:nvSpPr>
          <p:cNvPr id="4" name="Rounded Rectangle 3"/>
          <p:cNvSpPr/>
          <p:nvPr/>
        </p:nvSpPr>
        <p:spPr>
          <a:xfrm>
            <a:off x="777240" y="1645920"/>
            <a:ext cx="3657600" cy="448056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1832" y="1755648"/>
            <a:ext cx="3328416" cy="4261104"/>
          </a:xfrm>
          <a:prstGeom prst="rect">
            <a:avLst/>
          </a:prstGeom>
          <a:noFill/>
        </p:spPr>
        <p:txBody>
          <a:bodyPr wrap="square">
            <a:spAutoFit/>
          </a:bodyPr>
          <a:lstStyle/>
          <a:p>
            <a:pPr>
              <a:defRPr sz="1900" b="1">
                <a:solidFill>
                  <a:srgbClr val="192C4C"/>
                </a:solidFill>
                <a:latin typeface="Aptos"/>
              </a:defRPr>
            </a:pPr>
            <a:r>
              <a:t>Publishers</a:t>
            </a:r>
          </a:p>
          <a:p>
            <a:pPr>
              <a:spcAft>
                <a:spcPts val="400"/>
              </a:spcAft>
              <a:defRPr sz="1500">
                <a:solidFill>
                  <a:srgbClr val="2E3846"/>
                </a:solidFill>
                <a:latin typeface="Aptos"/>
              </a:defRPr>
            </a:pPr>
            <a:r>
              <a:t>publisher_sensor.py simulates five parking slots and publishes free or occupied states at random time intervals.</a:t>
            </a:r>
          </a:p>
          <a:p>
            <a:pPr>
              <a:spcAft>
                <a:spcPts val="400"/>
              </a:spcAft>
              <a:defRPr sz="1500">
                <a:solidFill>
                  <a:srgbClr val="2E3846"/>
                </a:solidFill>
                <a:latin typeface="Aptos"/>
              </a:defRPr>
            </a:pPr>
            <a:r>
              <a:t>publisher_vehicle_request.py simulates a car arriving at the entrance and publishes a structured request in JSON format.</a:t>
            </a:r>
          </a:p>
          <a:p>
            <a:pPr>
              <a:spcAft>
                <a:spcPts val="400"/>
              </a:spcAft>
              <a:defRPr sz="1500">
                <a:solidFill>
                  <a:srgbClr val="2E3846"/>
                </a:solidFill>
                <a:latin typeface="Aptos"/>
              </a:defRPr>
            </a:pPr>
            <a:r>
              <a:t>Both publishers use the same public broker and send messages continuously to represent a live IoT environment.</a:t>
            </a:r>
          </a:p>
        </p:txBody>
      </p:sp>
      <p:sp>
        <p:nvSpPr>
          <p:cNvPr id="6" name="Rounded Rectangle 5"/>
          <p:cNvSpPr/>
          <p:nvPr/>
        </p:nvSpPr>
        <p:spPr>
          <a:xfrm>
            <a:off x="4526280" y="1645920"/>
            <a:ext cx="3657600" cy="448056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90872" y="1755648"/>
            <a:ext cx="3328416" cy="4261104"/>
          </a:xfrm>
          <a:prstGeom prst="rect">
            <a:avLst/>
          </a:prstGeom>
          <a:noFill/>
        </p:spPr>
        <p:txBody>
          <a:bodyPr wrap="square">
            <a:spAutoFit/>
          </a:bodyPr>
          <a:lstStyle/>
          <a:p>
            <a:pPr>
              <a:defRPr sz="1900" b="1">
                <a:solidFill>
                  <a:srgbClr val="192C4C"/>
                </a:solidFill>
                <a:latin typeface="Aptos"/>
              </a:defRPr>
            </a:pPr>
            <a:r>
              <a:t>Subscribers</a:t>
            </a:r>
          </a:p>
          <a:p>
            <a:pPr>
              <a:spcAft>
                <a:spcPts val="400"/>
              </a:spcAft>
              <a:defRPr sz="1500">
                <a:solidFill>
                  <a:srgbClr val="2E3846"/>
                </a:solidFill>
                <a:latin typeface="Aptos"/>
              </a:defRPr>
            </a:pPr>
            <a:r>
              <a:t>subscriber_display.py receives updates from all parking slots and prints a real-time text dashboard.</a:t>
            </a:r>
          </a:p>
          <a:p>
            <a:pPr>
              <a:spcAft>
                <a:spcPts val="400"/>
              </a:spcAft>
              <a:defRPr sz="1500">
                <a:solidFill>
                  <a:srgbClr val="2E3846"/>
                </a:solidFill>
                <a:latin typeface="Aptos"/>
              </a:defRPr>
            </a:pPr>
            <a:r>
              <a:t>subscriber_stats.py stores the latest state of each slot and publishes a summary containing free, occupied, and unknown counts.</a:t>
            </a:r>
          </a:p>
          <a:p>
            <a:pPr>
              <a:spcAft>
                <a:spcPts val="400"/>
              </a:spcAft>
              <a:defRPr sz="1500">
                <a:solidFill>
                  <a:srgbClr val="2E3846"/>
                </a:solidFill>
                <a:latin typeface="Aptos"/>
              </a:defRPr>
            </a:pPr>
            <a:r>
              <a:t>subscriber_gateway.py listens to the summary and the vehicle request topic, then decides whether to open the gate or keep it closed.</a:t>
            </a:r>
          </a:p>
        </p:txBody>
      </p:sp>
      <p:sp>
        <p:nvSpPr>
          <p:cNvPr id="8" name="Rounded Rectangle 7"/>
          <p:cNvSpPr/>
          <p:nvPr/>
        </p:nvSpPr>
        <p:spPr>
          <a:xfrm>
            <a:off x="8275320" y="1645920"/>
            <a:ext cx="3154680" cy="448056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39912" y="1755648"/>
            <a:ext cx="2825496" cy="4261104"/>
          </a:xfrm>
          <a:prstGeom prst="rect">
            <a:avLst/>
          </a:prstGeom>
          <a:noFill/>
        </p:spPr>
        <p:txBody>
          <a:bodyPr wrap="square">
            <a:spAutoFit/>
          </a:bodyPr>
          <a:lstStyle/>
          <a:p>
            <a:pPr>
              <a:defRPr sz="1900" b="1">
                <a:solidFill>
                  <a:srgbClr val="192C4C"/>
                </a:solidFill>
                <a:latin typeface="Aptos"/>
              </a:defRPr>
            </a:pPr>
            <a:r>
              <a:t>Small improvements added</a:t>
            </a:r>
          </a:p>
          <a:p>
            <a:pPr>
              <a:spcAft>
                <a:spcPts val="400"/>
              </a:spcAft>
              <a:defRPr sz="1500">
                <a:solidFill>
                  <a:srgbClr val="2E3846"/>
                </a:solidFill>
                <a:latin typeface="Aptos"/>
              </a:defRPr>
            </a:pPr>
            <a:r>
              <a:t>A new vehicle request module was added so that the gate logic depends on actual MQTT events.</a:t>
            </a:r>
          </a:p>
          <a:p>
            <a:pPr>
              <a:spcAft>
                <a:spcPts val="400"/>
              </a:spcAft>
              <a:defRPr sz="1500">
                <a:solidFill>
                  <a:srgbClr val="2E3846"/>
                </a:solidFill>
                <a:latin typeface="Aptos"/>
              </a:defRPr>
            </a:pPr>
            <a:r>
              <a:t>The gate controller was upgraded from a timer-based demo to a decision-based controller.</a:t>
            </a:r>
          </a:p>
          <a:p>
            <a:pPr>
              <a:spcAft>
                <a:spcPts val="400"/>
              </a:spcAft>
              <a:defRPr sz="1500">
                <a:solidFill>
                  <a:srgbClr val="2E3846"/>
                </a:solidFill>
                <a:latin typeface="Aptos"/>
              </a:defRPr>
            </a:pPr>
            <a:r>
              <a:t>The README and requirements file were rewritten to make the project easier to run and present.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58368"/>
            <a:ext cx="10972800" cy="822960"/>
          </a:xfrm>
          <a:prstGeom prst="rect">
            <a:avLst/>
          </a:prstGeom>
          <a:noFill/>
        </p:spPr>
        <p:txBody>
          <a:bodyPr wrap="square">
            <a:spAutoFit/>
          </a:bodyPr>
          <a:lstStyle/>
          <a:p>
            <a:r>
              <a:rPr sz="2600" b="1">
                <a:solidFill>
                  <a:srgbClr val="192C4C"/>
                </a:solidFill>
                <a:latin typeface="Aptos"/>
              </a:rPr>
              <a:t>5. Testing and Demonstration Results</a:t>
            </a:r>
          </a:p>
          <a:p>
            <a:r>
              <a:rPr sz="1300">
                <a:solidFill>
                  <a:srgbClr val="2E3846"/>
                </a:solidFill>
                <a:latin typeface="Aptos"/>
              </a:rPr>
              <a:t>The prototype was tested by running the publishers and subscribers at the same time.</a:t>
            </a:r>
          </a:p>
        </p:txBody>
      </p:sp>
      <p:sp>
        <p:nvSpPr>
          <p:cNvPr id="4" name="Rounded Rectangle 3"/>
          <p:cNvSpPr/>
          <p:nvPr/>
        </p:nvSpPr>
        <p:spPr>
          <a:xfrm>
            <a:off x="822960" y="1645920"/>
            <a:ext cx="502920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755648"/>
            <a:ext cx="4700016" cy="1700784"/>
          </a:xfrm>
          <a:prstGeom prst="rect">
            <a:avLst/>
          </a:prstGeom>
          <a:noFill/>
        </p:spPr>
        <p:txBody>
          <a:bodyPr wrap="square" anchor="t">
            <a:spAutoFit/>
          </a:bodyPr>
          <a:lstStyle/>
          <a:p>
            <a:pPr>
              <a:spcAft>
                <a:spcPts val="600"/>
              </a:spcAft>
              <a:defRPr sz="1900" b="1">
                <a:solidFill>
                  <a:srgbClr val="FFFFFF"/>
                </a:solidFill>
                <a:latin typeface="Aptos"/>
              </a:defRPr>
            </a:pPr>
            <a:r>
              <a:t>Observed behavior</a:t>
            </a:r>
          </a:p>
          <a:p>
            <a:pPr>
              <a:spcAft>
                <a:spcPts val="600"/>
              </a:spcAft>
              <a:defRPr sz="1500" b="0">
                <a:solidFill>
                  <a:srgbClr val="FFFFFF"/>
                </a:solidFill>
                <a:latin typeface="Aptos"/>
              </a:defRPr>
            </a:pPr>
            <a:r>
              <a:t>During testing, the statistics service successfully received parking slot updates and recalculated the number of free spaces. The gate controller also received those summaries and reacted to vehicle requests in real time. When at least one space was available, the controller published an open decision. If no free space was available at that moment, the controller returned a wait decision instead.</a:t>
            </a:r>
          </a:p>
        </p:txBody>
      </p:sp>
      <p:sp>
        <p:nvSpPr>
          <p:cNvPr id="6" name="Rounded Rectangle 5"/>
          <p:cNvSpPr/>
          <p:nvPr/>
        </p:nvSpPr>
        <p:spPr>
          <a:xfrm>
            <a:off x="6126480" y="1645920"/>
            <a:ext cx="5212080" cy="2971800"/>
          </a:xfrm>
          <a:prstGeom prst="round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874519"/>
            <a:ext cx="4754880" cy="2560320"/>
          </a:xfrm>
          <a:prstGeom prst="rect">
            <a:avLst/>
          </a:prstGeom>
          <a:noFill/>
        </p:spPr>
        <p:txBody>
          <a:bodyPr wrap="none">
            <a:spAutoFit/>
          </a:bodyPr>
          <a:lstStyle/>
          <a:p>
            <a:pPr>
              <a:spcAft>
                <a:spcPts val="500"/>
              </a:spcAft>
              <a:defRPr sz="1300">
                <a:solidFill>
                  <a:srgbClr val="FFFFFF"/>
                </a:solidFill>
                <a:latin typeface="Courier New"/>
              </a:defRPr>
            </a:pPr>
            <a:r>
              <a:t>Gate controller connected and waiting for incoming messages...</a:t>
            </a:r>
          </a:p>
          <a:p>
            <a:pPr>
              <a:spcAft>
                <a:spcPts val="500"/>
              </a:spcAft>
              <a:defRPr sz="1300">
                <a:solidFill>
                  <a:srgbClr val="FFFFFF"/>
                </a:solidFill>
                <a:latin typeface="Courier New"/>
              </a:defRPr>
            </a:pPr>
            <a:r>
              <a:t>Summary synchronized: current free spaces = 1</a:t>
            </a:r>
          </a:p>
          <a:p>
            <a:pPr>
              <a:spcAft>
                <a:spcPts val="500"/>
              </a:spcAft>
              <a:defRPr sz="1300">
                <a:solidFill>
                  <a:srgbClr val="FFFFFF"/>
                </a:solidFill>
                <a:latin typeface="Courier New"/>
              </a:defRPr>
            </a:pPr>
            <a:r>
              <a:t>Summary synchronized: current free spaces = 4</a:t>
            </a:r>
          </a:p>
          <a:p>
            <a:pPr>
              <a:spcAft>
                <a:spcPts val="500"/>
              </a:spcAft>
              <a:defRPr sz="1300">
                <a:solidFill>
                  <a:srgbClr val="FFFFFF"/>
                </a:solidFill>
                <a:latin typeface="Courier New"/>
              </a:defRPr>
            </a:pPr>
            <a:r>
              <a:t>Gate opened: CAR-101 is allowed to enter</a:t>
            </a:r>
          </a:p>
          <a:p>
            <a:pPr>
              <a:spcAft>
                <a:spcPts val="500"/>
              </a:spcAft>
              <a:defRPr sz="1300">
                <a:solidFill>
                  <a:srgbClr val="FFFFFF"/>
                </a:solidFill>
                <a:latin typeface="Courier New"/>
              </a:defRPr>
            </a:pPr>
            <a:r>
              <a:t>Vehicle request sent: {'vehicle_id': 'CAR-101', 'request_time': '2026-03-26 02:48:08'}</a:t>
            </a:r>
          </a:p>
        </p:txBody>
      </p:sp>
      <p:sp>
        <p:nvSpPr>
          <p:cNvPr id="8" name="Rounded Rectangle 7"/>
          <p:cNvSpPr/>
          <p:nvPr/>
        </p:nvSpPr>
        <p:spPr>
          <a:xfrm>
            <a:off x="822960" y="4892040"/>
            <a:ext cx="10515600" cy="914400"/>
          </a:xfrm>
          <a:prstGeom prst="roundRect">
            <a:avLst/>
          </a:prstGeom>
          <a:solidFill>
            <a:srgbClr val="E4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001768"/>
            <a:ext cx="10186416" cy="694944"/>
          </a:xfrm>
          <a:prstGeom prst="rect">
            <a:avLst/>
          </a:prstGeom>
          <a:noFill/>
        </p:spPr>
        <p:txBody>
          <a:bodyPr wrap="square" anchor="t">
            <a:spAutoFit/>
          </a:bodyPr>
          <a:lstStyle/>
          <a:p>
            <a:pPr>
              <a:spcAft>
                <a:spcPts val="600"/>
              </a:spcAft>
              <a:defRPr sz="1400" b="0">
                <a:solidFill>
                  <a:srgbClr val="192C4C"/>
                </a:solidFill>
                <a:latin typeface="Aptos"/>
              </a:defRPr>
            </a:pPr>
            <a:r>
              <a:t>These results confirm that the core MQTT workflow already works as intended. The prototype is simple, but it clearly demonstrates event publishing, topic subscription, shared broker communication, and decision making based on live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58368"/>
            <a:ext cx="10972800" cy="822960"/>
          </a:xfrm>
          <a:prstGeom prst="rect">
            <a:avLst/>
          </a:prstGeom>
          <a:noFill/>
        </p:spPr>
        <p:txBody>
          <a:bodyPr wrap="square">
            <a:spAutoFit/>
          </a:bodyPr>
          <a:lstStyle/>
          <a:p>
            <a:r>
              <a:rPr sz="2600" b="1">
                <a:solidFill>
                  <a:srgbClr val="192C4C"/>
                </a:solidFill>
                <a:latin typeface="Aptos"/>
              </a:rPr>
              <a:t>6. Limitations and Future Improvements</a:t>
            </a:r>
          </a:p>
          <a:p>
            <a:r>
              <a:rPr sz="1300">
                <a:solidFill>
                  <a:srgbClr val="2E3846"/>
                </a:solidFill>
                <a:latin typeface="Aptos"/>
              </a:rPr>
              <a:t>This version is a coursework prototype, so several features can still be expanded later.</a:t>
            </a:r>
          </a:p>
        </p:txBody>
      </p:sp>
      <p:sp>
        <p:nvSpPr>
          <p:cNvPr id="4" name="Rounded Rectangle 3"/>
          <p:cNvSpPr/>
          <p:nvPr/>
        </p:nvSpPr>
        <p:spPr>
          <a:xfrm>
            <a:off x="777240" y="1645920"/>
            <a:ext cx="5212080" cy="448056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1832" y="1755648"/>
            <a:ext cx="4882896" cy="4261104"/>
          </a:xfrm>
          <a:prstGeom prst="rect">
            <a:avLst/>
          </a:prstGeom>
          <a:noFill/>
        </p:spPr>
        <p:txBody>
          <a:bodyPr wrap="square">
            <a:spAutoFit/>
          </a:bodyPr>
          <a:lstStyle/>
          <a:p>
            <a:pPr>
              <a:defRPr sz="1900" b="1">
                <a:solidFill>
                  <a:srgbClr val="192C4C"/>
                </a:solidFill>
                <a:latin typeface="Aptos"/>
              </a:defRPr>
            </a:pPr>
            <a:r>
              <a:t>Current limitations</a:t>
            </a:r>
          </a:p>
          <a:p>
            <a:pPr>
              <a:spcAft>
                <a:spcPts val="400"/>
              </a:spcAft>
              <a:defRPr sz="1500">
                <a:solidFill>
                  <a:srgbClr val="2E3846"/>
                </a:solidFill>
                <a:latin typeface="Aptos"/>
              </a:defRPr>
            </a:pPr>
            <a:r>
              <a:t>The project uses a public MQTT broker instead of a private and secured deployment.</a:t>
            </a:r>
          </a:p>
          <a:p>
            <a:pPr>
              <a:spcAft>
                <a:spcPts val="400"/>
              </a:spcAft>
              <a:defRPr sz="1500">
                <a:solidFill>
                  <a:srgbClr val="2E3846"/>
                </a:solidFill>
                <a:latin typeface="Aptos"/>
              </a:defRPr>
            </a:pPr>
            <a:r>
              <a:t>Parking data is simulated randomly and is not connected to real hardware sensors.</a:t>
            </a:r>
          </a:p>
          <a:p>
            <a:pPr>
              <a:spcAft>
                <a:spcPts val="400"/>
              </a:spcAft>
              <a:defRPr sz="1500">
                <a:solidFill>
                  <a:srgbClr val="2E3846"/>
                </a:solidFill>
                <a:latin typeface="Aptos"/>
              </a:defRPr>
            </a:pPr>
            <a:r>
              <a:t>The output is shown in terminal windows rather than in a graphical web dashboard.</a:t>
            </a:r>
          </a:p>
          <a:p>
            <a:pPr>
              <a:spcAft>
                <a:spcPts val="400"/>
              </a:spcAft>
              <a:defRPr sz="1500">
                <a:solidFill>
                  <a:srgbClr val="2E3846"/>
                </a:solidFill>
                <a:latin typeface="Aptos"/>
              </a:defRPr>
            </a:pPr>
            <a:r>
              <a:t>The current workflow does not store historical data in a database for later analysis.</a:t>
            </a:r>
          </a:p>
        </p:txBody>
      </p:sp>
      <p:sp>
        <p:nvSpPr>
          <p:cNvPr id="6" name="Rounded Rectangle 5"/>
          <p:cNvSpPr/>
          <p:nvPr/>
        </p:nvSpPr>
        <p:spPr>
          <a:xfrm>
            <a:off x="6217920" y="1645920"/>
            <a:ext cx="5212080" cy="448056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2512" y="1755648"/>
            <a:ext cx="4882896" cy="4261104"/>
          </a:xfrm>
          <a:prstGeom prst="rect">
            <a:avLst/>
          </a:prstGeom>
          <a:noFill/>
        </p:spPr>
        <p:txBody>
          <a:bodyPr wrap="square">
            <a:spAutoFit/>
          </a:bodyPr>
          <a:lstStyle/>
          <a:p>
            <a:pPr>
              <a:defRPr sz="1900" b="1">
                <a:solidFill>
                  <a:srgbClr val="192C4C"/>
                </a:solidFill>
                <a:latin typeface="Aptos"/>
              </a:defRPr>
            </a:pPr>
            <a:r>
              <a:t>Possible future work</a:t>
            </a:r>
          </a:p>
          <a:p>
            <a:pPr>
              <a:spcAft>
                <a:spcPts val="400"/>
              </a:spcAft>
              <a:defRPr sz="1500">
                <a:solidFill>
                  <a:srgbClr val="2E3846"/>
                </a:solidFill>
                <a:latin typeface="Aptos"/>
              </a:defRPr>
            </a:pPr>
            <a:r>
              <a:t>Replace the simulated sensor input with real ultrasonic or infrared sensors.</a:t>
            </a:r>
          </a:p>
          <a:p>
            <a:pPr>
              <a:spcAft>
                <a:spcPts val="400"/>
              </a:spcAft>
              <a:defRPr sz="1500">
                <a:solidFill>
                  <a:srgbClr val="2E3846"/>
                </a:solidFill>
                <a:latin typeface="Aptos"/>
              </a:defRPr>
            </a:pPr>
            <a:r>
              <a:t>Add a database to record parking events, traffic patterns, and gate decisions.</a:t>
            </a:r>
          </a:p>
          <a:p>
            <a:pPr>
              <a:spcAft>
                <a:spcPts val="400"/>
              </a:spcAft>
              <a:defRPr sz="1500">
                <a:solidFill>
                  <a:srgbClr val="2E3846"/>
                </a:solidFill>
                <a:latin typeface="Aptos"/>
              </a:defRPr>
            </a:pPr>
            <a:r>
              <a:t>Develop a web or mobile dashboard so that users can check parking availability remotely.</a:t>
            </a:r>
          </a:p>
          <a:p>
            <a:pPr>
              <a:spcAft>
                <a:spcPts val="400"/>
              </a:spcAft>
              <a:defRPr sz="1500">
                <a:solidFill>
                  <a:srgbClr val="2E3846"/>
                </a:solidFill>
                <a:latin typeface="Aptos"/>
              </a:defRPr>
            </a:pPr>
            <a:r>
              <a:t>Extend the system with reservation, pricing, and license plate recognition features.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19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58368"/>
            <a:ext cx="10972800" cy="822960"/>
          </a:xfrm>
          <a:prstGeom prst="rect">
            <a:avLst/>
          </a:prstGeom>
          <a:noFill/>
        </p:spPr>
        <p:txBody>
          <a:bodyPr wrap="square">
            <a:spAutoFit/>
          </a:bodyPr>
          <a:lstStyle/>
          <a:p>
            <a:r>
              <a:rPr sz="2600" b="1">
                <a:solidFill>
                  <a:srgbClr val="192C4C"/>
                </a:solidFill>
                <a:latin typeface="Aptos"/>
              </a:rPr>
              <a:t>7. Conclusion</a:t>
            </a:r>
          </a:p>
          <a:p>
            <a:r>
              <a:rPr sz="1300">
                <a:solidFill>
                  <a:srgbClr val="2E3846"/>
                </a:solidFill>
                <a:latin typeface="Aptos"/>
              </a:rPr>
              <a:t>The project meets the coursework goal by presenting a working MQTT-based smart parking prototype.</a:t>
            </a:r>
          </a:p>
        </p:txBody>
      </p:sp>
      <p:sp>
        <p:nvSpPr>
          <p:cNvPr id="4" name="Rounded Rectangle 3"/>
          <p:cNvSpPr/>
          <p:nvPr/>
        </p:nvSpPr>
        <p:spPr>
          <a:xfrm>
            <a:off x="868680" y="1783080"/>
            <a:ext cx="1033272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1" y="1892807"/>
            <a:ext cx="10003536" cy="1609344"/>
          </a:xfrm>
          <a:prstGeom prst="rect">
            <a:avLst/>
          </a:prstGeom>
          <a:noFill/>
        </p:spPr>
        <p:txBody>
          <a:bodyPr wrap="square" anchor="t">
            <a:spAutoFit/>
          </a:bodyPr>
          <a:lstStyle/>
          <a:p>
            <a:pPr>
              <a:spcAft>
                <a:spcPts val="600"/>
              </a:spcAft>
              <a:defRPr sz="2100" b="1">
                <a:solidFill>
                  <a:srgbClr val="FFFFFF"/>
                </a:solidFill>
                <a:latin typeface="Aptos"/>
              </a:defRPr>
            </a:pPr>
            <a:r>
              <a:t>Project summary</a:t>
            </a:r>
          </a:p>
          <a:p>
            <a:pPr>
              <a:spcAft>
                <a:spcPts val="600"/>
              </a:spcAft>
              <a:defRPr sz="1600" b="0">
                <a:solidFill>
                  <a:srgbClr val="FFFFFF"/>
                </a:solidFill>
                <a:latin typeface="Aptos"/>
              </a:defRPr>
            </a:pPr>
            <a:r>
              <a:t>In conclusion, this prototype shows how MQTT can be applied to a smart parking scenario in a clear and practical way. The project includes message publishers, message subscribers, a shared broker, topic design, statistics processing, and gate decision logic. Although the system is still small, it already demonstrates the essential ideas behind IoT communication and distributed services. This makes it a suitable foundation for further development in later coursework stages.</a:t>
            </a:r>
          </a:p>
        </p:txBody>
      </p:sp>
      <p:sp>
        <p:nvSpPr>
          <p:cNvPr id="6" name="Rounded Rectangle 5"/>
          <p:cNvSpPr/>
          <p:nvPr/>
        </p:nvSpPr>
        <p:spPr>
          <a:xfrm>
            <a:off x="1645920" y="4251960"/>
            <a:ext cx="8869680" cy="1188720"/>
          </a:xfrm>
          <a:prstGeom prst="roundRect">
            <a:avLst/>
          </a:prstGeom>
          <a:solidFill>
            <a:srgbClr val="2A8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100" b="1">
                <a:solidFill>
                  <a:srgbClr val="FFFFFF"/>
                </a:solidFill>
                <a:latin typeface="Aptos"/>
              </a:defRPr>
            </a:pPr>
            <a:r>
              <a:t>Smart Parking with MQTT: a simple prototype, a clear message flow, and a strong base for future extension.</a:t>
            </a:r>
          </a:p>
        </p:txBody>
      </p:sp>
      <p:sp>
        <p:nvSpPr>
          <p:cNvPr id="7" name="TextBox 6"/>
          <p:cNvSpPr txBox="1"/>
          <p:nvPr/>
        </p:nvSpPr>
        <p:spPr>
          <a:xfrm>
            <a:off x="868680" y="5806440"/>
            <a:ext cx="10332720" cy="365760"/>
          </a:xfrm>
          <a:prstGeom prst="rect">
            <a:avLst/>
          </a:prstGeom>
          <a:noFill/>
        </p:spPr>
        <p:txBody>
          <a:bodyPr wrap="none">
            <a:spAutoFit/>
          </a:bodyPr>
          <a:lstStyle/>
          <a:p>
            <a:pPr algn="ctr"/>
            <a:r>
              <a:rPr sz="2400" b="1">
                <a:solidFill>
                  <a:srgbClr val="192C4C"/>
                </a:solidFill>
                <a:latin typeface="Aptos"/>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