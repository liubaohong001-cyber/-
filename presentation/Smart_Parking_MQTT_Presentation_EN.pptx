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49808" y="960120"/>
            <a:ext cx="10698480" cy="498348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1417320"/>
            <a:ext cx="9784080" cy="2743200"/>
          </a:xfrm>
          <a:prstGeom prst="rect">
            <a:avLst/>
          </a:prstGeom>
          <a:noFill/>
        </p:spPr>
        <p:txBody>
          <a:bodyPr wrap="none">
            <a:spAutoFit/>
          </a:bodyPr>
          <a:lstStyle/>
          <a:p>
            <a:r>
              <a:rPr sz="3000" b="1">
                <a:solidFill>
                  <a:srgbClr val="182C4C"/>
                </a:solidFill>
                <a:latin typeface="Aptos"/>
              </a:rPr>
              <a:t>Smart Parking MQTT Prototype</a:t>
            </a:r>
          </a:p>
          <a:p>
            <a:r>
              <a:rPr sz="1800">
                <a:solidFill>
                  <a:srgbClr val="225CA5"/>
                </a:solidFill>
                <a:latin typeface="Aptos"/>
              </a:rPr>
              <a:t>Current Progress Presentation</a:t>
            </a:r>
          </a:p>
          <a:p>
            <a:r>
              <a:rPr sz="1800">
                <a:solidFill>
                  <a:srgbClr val="3D4858"/>
                </a:solidFill>
                <a:latin typeface="Aptos"/>
              </a:rPr>
              <a:t>This version of the presentation focuses on the current implementation progress. Instead of repeating the project background, it shows the modules that are already working, the live demo output captured from the current codebase, and the recent GitHub development record.</a:t>
            </a:r>
          </a:p>
        </p:txBody>
      </p:sp>
      <p:sp>
        <p:nvSpPr>
          <p:cNvPr id="5" name="Rounded Rectangle 4"/>
          <p:cNvSpPr/>
          <p:nvPr/>
        </p:nvSpPr>
        <p:spPr>
          <a:xfrm>
            <a:off x="1078992" y="4572000"/>
            <a:ext cx="2788920" cy="502920"/>
          </a:xfrm>
          <a:prstGeom prst="roundRect">
            <a:avLst/>
          </a:prstGeom>
          <a:solidFill>
            <a:srgbClr val="258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FFFFFF"/>
                </a:solidFill>
                <a:latin typeface="Aptos"/>
              </a:defRPr>
            </a:pPr>
            <a:r>
              <a:t>Live demo + GitHub progress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72800" cy="822960"/>
          </a:xfrm>
          <a:prstGeom prst="rect">
            <a:avLst/>
          </a:prstGeom>
          <a:noFill/>
        </p:spPr>
        <p:txBody>
          <a:bodyPr wrap="none">
            <a:spAutoFit/>
          </a:bodyPr>
          <a:lstStyle/>
          <a:p>
            <a:r>
              <a:rPr sz="2500" b="1">
                <a:solidFill>
                  <a:srgbClr val="182C4C"/>
                </a:solidFill>
                <a:latin typeface="Aptos"/>
              </a:rPr>
              <a:t>1. Current Implementation Progress</a:t>
            </a:r>
          </a:p>
          <a:p>
            <a:r>
              <a:rPr sz="1300">
                <a:solidFill>
                  <a:srgbClr val="3D4858"/>
                </a:solidFill>
                <a:latin typeface="Aptos"/>
              </a:rPr>
              <a:t>The core MQTT workflow is already running end to end.</a:t>
            </a:r>
          </a:p>
        </p:txBody>
      </p:sp>
      <p:sp>
        <p:nvSpPr>
          <p:cNvPr id="4" name="Rounded Rectangle 3"/>
          <p:cNvSpPr/>
          <p:nvPr/>
        </p:nvSpPr>
        <p:spPr>
          <a:xfrm>
            <a:off x="777240" y="1645920"/>
            <a:ext cx="3657600" cy="448056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1755648"/>
            <a:ext cx="3328416" cy="4261104"/>
          </a:xfrm>
          <a:prstGeom prst="rect">
            <a:avLst/>
          </a:prstGeom>
          <a:noFill/>
        </p:spPr>
        <p:txBody>
          <a:bodyPr wrap="none">
            <a:spAutoFit/>
          </a:bodyPr>
          <a:lstStyle/>
          <a:p>
            <a:pPr>
              <a:defRPr sz="1800" b="1">
                <a:solidFill>
                  <a:srgbClr val="182C4C"/>
                </a:solidFill>
                <a:latin typeface="Aptos"/>
              </a:defRPr>
            </a:pPr>
            <a:r>
              <a:t>Completed modules</a:t>
            </a:r>
          </a:p>
          <a:p>
            <a:pPr>
              <a:spcAft>
                <a:spcPts val="400"/>
              </a:spcAft>
              <a:defRPr sz="1400">
                <a:solidFill>
                  <a:srgbClr val="3D4858"/>
                </a:solidFill>
                <a:latin typeface="Aptos"/>
              </a:defRPr>
            </a:pPr>
            <a:r>
              <a:t>Parking sensor simulation is publishing slot updates to MQTT topics.</a:t>
            </a:r>
          </a:p>
          <a:p>
            <a:pPr>
              <a:spcAft>
                <a:spcPts val="400"/>
              </a:spcAft>
              <a:defRPr sz="1400">
                <a:solidFill>
                  <a:srgbClr val="3D4858"/>
                </a:solidFill>
                <a:latin typeface="Aptos"/>
              </a:defRPr>
            </a:pPr>
            <a:r>
              <a:t>The display module is subscribing to all parking status topics and showing a live dashboard.</a:t>
            </a:r>
          </a:p>
          <a:p>
            <a:pPr>
              <a:spcAft>
                <a:spcPts val="400"/>
              </a:spcAft>
              <a:defRPr sz="1400">
                <a:solidFill>
                  <a:srgbClr val="3D4858"/>
                </a:solidFill>
                <a:latin typeface="Aptos"/>
              </a:defRPr>
            </a:pPr>
            <a:r>
              <a:t>The statistics service is counting free and occupied spaces and publishing summary messages.</a:t>
            </a:r>
          </a:p>
          <a:p>
            <a:pPr>
              <a:spcAft>
                <a:spcPts val="400"/>
              </a:spcAft>
              <a:defRPr sz="1400">
                <a:solidFill>
                  <a:srgbClr val="3D4858"/>
                </a:solidFill>
                <a:latin typeface="Aptos"/>
              </a:defRPr>
            </a:pPr>
            <a:r>
              <a:t>The gate controller is making a real-time entry decision based on current availability.</a:t>
            </a:r>
          </a:p>
        </p:txBody>
      </p:sp>
      <p:sp>
        <p:nvSpPr>
          <p:cNvPr id="6" name="Rounded Rectangle 5"/>
          <p:cNvSpPr/>
          <p:nvPr/>
        </p:nvSpPr>
        <p:spPr>
          <a:xfrm>
            <a:off x="4526280" y="1645920"/>
            <a:ext cx="3657600" cy="448056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90872" y="1755648"/>
            <a:ext cx="3328416" cy="4261104"/>
          </a:xfrm>
          <a:prstGeom prst="rect">
            <a:avLst/>
          </a:prstGeom>
          <a:noFill/>
        </p:spPr>
        <p:txBody>
          <a:bodyPr wrap="none">
            <a:spAutoFit/>
          </a:bodyPr>
          <a:lstStyle/>
          <a:p>
            <a:pPr>
              <a:defRPr sz="1800" b="1">
                <a:solidFill>
                  <a:srgbClr val="182C4C"/>
                </a:solidFill>
                <a:latin typeface="Aptos"/>
              </a:defRPr>
            </a:pPr>
            <a:r>
              <a:t>New work added in this round</a:t>
            </a:r>
          </a:p>
          <a:p>
            <a:pPr>
              <a:spcAft>
                <a:spcPts val="400"/>
              </a:spcAft>
              <a:defRPr sz="1400">
                <a:solidFill>
                  <a:srgbClr val="3D4858"/>
                </a:solidFill>
                <a:latin typeface="Aptos"/>
              </a:defRPr>
            </a:pPr>
            <a:r>
              <a:t>A vehicle request publisher was added so the gate logic depends on live MQTT events.</a:t>
            </a:r>
          </a:p>
          <a:p>
            <a:pPr>
              <a:spcAft>
                <a:spcPts val="400"/>
              </a:spcAft>
              <a:defRPr sz="1400">
                <a:solidFill>
                  <a:srgbClr val="3D4858"/>
                </a:solidFill>
                <a:latin typeface="Aptos"/>
              </a:defRPr>
            </a:pPr>
            <a:r>
              <a:t>The gate controller was changed from a fixed-timer demo to a message-driven controller.</a:t>
            </a:r>
          </a:p>
          <a:p>
            <a:pPr>
              <a:spcAft>
                <a:spcPts val="400"/>
              </a:spcAft>
              <a:defRPr sz="1400">
                <a:solidFill>
                  <a:srgbClr val="3D4858"/>
                </a:solidFill>
                <a:latin typeface="Aptos"/>
              </a:defRPr>
            </a:pPr>
            <a:r>
              <a:t>The README and the project structure were cleaned up so the prototype is easier to run.</a:t>
            </a:r>
          </a:p>
          <a:p>
            <a:pPr>
              <a:spcAft>
                <a:spcPts val="400"/>
              </a:spcAft>
              <a:defRPr sz="1400">
                <a:solidFill>
                  <a:srgbClr val="3D4858"/>
                </a:solidFill>
                <a:latin typeface="Aptos"/>
              </a:defRPr>
            </a:pPr>
            <a:r>
              <a:t>An English presentation deck and progress screenshots were prepared for the demo.</a:t>
            </a:r>
          </a:p>
        </p:txBody>
      </p:sp>
      <p:sp>
        <p:nvSpPr>
          <p:cNvPr id="8" name="Rounded Rectangle 7"/>
          <p:cNvSpPr/>
          <p:nvPr/>
        </p:nvSpPr>
        <p:spPr>
          <a:xfrm>
            <a:off x="8275320" y="1645920"/>
            <a:ext cx="3154680" cy="448056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755648"/>
            <a:ext cx="2825496" cy="4261104"/>
          </a:xfrm>
          <a:prstGeom prst="rect">
            <a:avLst/>
          </a:prstGeom>
          <a:noFill/>
        </p:spPr>
        <p:txBody>
          <a:bodyPr wrap="none">
            <a:spAutoFit/>
          </a:bodyPr>
          <a:lstStyle/>
          <a:p>
            <a:pPr>
              <a:defRPr sz="1800" b="1">
                <a:solidFill>
                  <a:srgbClr val="182C4C"/>
                </a:solidFill>
                <a:latin typeface="Aptos"/>
              </a:defRPr>
            </a:pPr>
            <a:r>
              <a:t>What this means</a:t>
            </a:r>
          </a:p>
          <a:p>
            <a:pPr>
              <a:defRPr sz="1400">
                <a:solidFill>
                  <a:srgbClr val="3D4858"/>
                </a:solidFill>
                <a:latin typeface="Aptos"/>
              </a:defRPr>
            </a:pPr>
            <a:r>
              <a:t>At this stage, the project is no longer only a code sketch. It already behaves like a small distributed system. Different modules publish and subscribe to the same broker, and the output now demonstrates state updates, summary aggregation, and gate decisions based on current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72800" cy="822960"/>
          </a:xfrm>
          <a:prstGeom prst="rect">
            <a:avLst/>
          </a:prstGeom>
          <a:noFill/>
        </p:spPr>
        <p:txBody>
          <a:bodyPr wrap="none">
            <a:spAutoFit/>
          </a:bodyPr>
          <a:lstStyle/>
          <a:p>
            <a:r>
              <a:rPr sz="2500" b="1">
                <a:solidFill>
                  <a:srgbClr val="182C4C"/>
                </a:solidFill>
                <a:latin typeface="Aptos"/>
              </a:rPr>
              <a:t>2. Current System Architecture</a:t>
            </a:r>
          </a:p>
          <a:p>
            <a:r>
              <a:rPr sz="1300">
                <a:solidFill>
                  <a:srgbClr val="3D4858"/>
                </a:solidFill>
                <a:latin typeface="Aptos"/>
              </a:rPr>
              <a:t>This architecture diagram matches the modules that are active in the present demo.</a:t>
            </a:r>
          </a:p>
        </p:txBody>
      </p:sp>
      <p:pic>
        <p:nvPicPr>
          <p:cNvPr id="4" name="Picture 3" descr="architecture_diagram.png"/>
          <p:cNvPicPr>
            <a:picLocks noChangeAspect="1"/>
          </p:cNvPicPr>
          <p:nvPr/>
        </p:nvPicPr>
        <p:blipFill>
          <a:blip r:embed="rId2"/>
          <a:stretch>
            <a:fillRect/>
          </a:stretch>
        </p:blipFill>
        <p:spPr>
          <a:xfrm>
            <a:off x="621792" y="1417320"/>
            <a:ext cx="10972800" cy="5257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72800" cy="822960"/>
          </a:xfrm>
          <a:prstGeom prst="rect">
            <a:avLst/>
          </a:prstGeom>
          <a:noFill/>
        </p:spPr>
        <p:txBody>
          <a:bodyPr wrap="none">
            <a:spAutoFit/>
          </a:bodyPr>
          <a:lstStyle/>
          <a:p>
            <a:r>
              <a:rPr sz="2500" b="1">
                <a:solidFill>
                  <a:srgbClr val="182C4C"/>
                </a:solidFill>
                <a:latin typeface="Aptos"/>
              </a:rPr>
              <a:t>3. Live Demo: Dashboard Output</a:t>
            </a:r>
          </a:p>
          <a:p>
            <a:r>
              <a:rPr sz="1300">
                <a:solidFill>
                  <a:srgbClr val="3D4858"/>
                </a:solidFill>
                <a:latin typeface="Aptos"/>
              </a:rPr>
              <a:t>The screenshot below comes from the current run of subscriber_display.py.</a:t>
            </a:r>
          </a:p>
        </p:txBody>
      </p:sp>
      <p:pic>
        <p:nvPicPr>
          <p:cNvPr id="4" name="Picture 3" descr="demo_dashboard.png"/>
          <p:cNvPicPr>
            <a:picLocks noChangeAspect="1"/>
          </p:cNvPicPr>
          <p:nvPr/>
        </p:nvPicPr>
        <p:blipFill>
          <a:blip r:embed="rId2"/>
          <a:stretch>
            <a:fillRect/>
          </a:stretch>
        </p:blipFill>
        <p:spPr>
          <a:xfrm>
            <a:off x="713232" y="1508760"/>
            <a:ext cx="6583680" cy="4114800"/>
          </a:xfrm>
          <a:prstGeom prst="rect">
            <a:avLst/>
          </a:prstGeom>
        </p:spPr>
      </p:pic>
      <p:sp>
        <p:nvSpPr>
          <p:cNvPr id="5" name="Rounded Rectangle 4"/>
          <p:cNvSpPr/>
          <p:nvPr/>
        </p:nvSpPr>
        <p:spPr>
          <a:xfrm>
            <a:off x="7498079" y="1600200"/>
            <a:ext cx="4069080" cy="393192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62671" y="1709928"/>
            <a:ext cx="3739896" cy="3712463"/>
          </a:xfrm>
          <a:prstGeom prst="rect">
            <a:avLst/>
          </a:prstGeom>
          <a:noFill/>
        </p:spPr>
        <p:txBody>
          <a:bodyPr wrap="none">
            <a:spAutoFit/>
          </a:bodyPr>
          <a:lstStyle/>
          <a:p>
            <a:pPr>
              <a:defRPr sz="1800" b="1">
                <a:solidFill>
                  <a:srgbClr val="182C4C"/>
                </a:solidFill>
                <a:latin typeface="Aptos"/>
              </a:defRPr>
            </a:pPr>
            <a:r>
              <a:t>What the screenshot shows</a:t>
            </a:r>
          </a:p>
          <a:p>
            <a:pPr>
              <a:defRPr sz="1400">
                <a:solidFill>
                  <a:srgbClr val="3D4858"/>
                </a:solidFill>
                <a:latin typeface="Aptos"/>
              </a:defRPr>
            </a:pPr>
            <a:r>
              <a:t>The dashboard is already receiving live parking slot messages and updating the visible status table. In this captured state, every slot has been reported, and the system is showing both occupied and free spaces in real time. This demonstrates that the subscription side of the prototype is functioning correctly and that the parking status topic design is usable in practice.</a:t>
            </a:r>
          </a:p>
        </p:txBody>
      </p:sp>
      <p:sp>
        <p:nvSpPr>
          <p:cNvPr id="7" name="Rounded Rectangle 6"/>
          <p:cNvSpPr/>
          <p:nvPr/>
        </p:nvSpPr>
        <p:spPr>
          <a:xfrm>
            <a:off x="822960" y="5715000"/>
            <a:ext cx="10744200" cy="658368"/>
          </a:xfrm>
          <a:prstGeom prst="roundRect">
            <a:avLst/>
          </a:prstGeom>
          <a:solidFill>
            <a:srgbClr val="E4ECF7"/>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824728"/>
            <a:ext cx="10415016" cy="438912"/>
          </a:xfrm>
          <a:prstGeom prst="rect">
            <a:avLst/>
          </a:prstGeom>
          <a:noFill/>
        </p:spPr>
        <p:txBody>
          <a:bodyPr wrap="none">
            <a:spAutoFit/>
          </a:bodyPr>
          <a:lstStyle/>
          <a:p>
            <a:pPr>
              <a:defRPr sz="1800" b="1">
                <a:solidFill>
                  <a:srgbClr val="182C4C"/>
                </a:solidFill>
                <a:latin typeface="Aptos"/>
              </a:defRPr>
            </a:pPr>
            <a:r>
              <a:t>Progress value</a:t>
            </a:r>
          </a:p>
          <a:p>
            <a:pPr>
              <a:defRPr sz="1400">
                <a:solidFill>
                  <a:srgbClr val="3D4858"/>
                </a:solidFill>
                <a:latin typeface="Aptos"/>
              </a:defRPr>
            </a:pPr>
            <a:r>
              <a:t>This output proves that the project already has a working real-time monitoring view, even though it is currently implemented in the terminal instead of a graphical web page.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72800" cy="822960"/>
          </a:xfrm>
          <a:prstGeom prst="rect">
            <a:avLst/>
          </a:prstGeom>
          <a:noFill/>
        </p:spPr>
        <p:txBody>
          <a:bodyPr wrap="none">
            <a:spAutoFit/>
          </a:bodyPr>
          <a:lstStyle/>
          <a:p>
            <a:r>
              <a:rPr sz="2500" b="1">
                <a:solidFill>
                  <a:srgbClr val="182C4C"/>
                </a:solidFill>
                <a:latin typeface="Aptos"/>
              </a:rPr>
              <a:t>4. Live Demo: Message Publishing and Service Interaction</a:t>
            </a:r>
          </a:p>
          <a:p>
            <a:r>
              <a:rPr sz="1300">
                <a:solidFill>
                  <a:srgbClr val="3D4858"/>
                </a:solidFill>
                <a:latin typeface="Aptos"/>
              </a:rPr>
              <a:t>The current prototype already has active publishers and reactive service logic.</a:t>
            </a:r>
          </a:p>
        </p:txBody>
      </p:sp>
      <p:pic>
        <p:nvPicPr>
          <p:cNvPr id="4" name="Picture 3" descr="demo_publishers.png"/>
          <p:cNvPicPr>
            <a:picLocks noChangeAspect="1"/>
          </p:cNvPicPr>
          <p:nvPr/>
        </p:nvPicPr>
        <p:blipFill>
          <a:blip r:embed="rId2"/>
          <a:stretch>
            <a:fillRect/>
          </a:stretch>
        </p:blipFill>
        <p:spPr>
          <a:xfrm>
            <a:off x="749808" y="1572768"/>
            <a:ext cx="5532120" cy="3154680"/>
          </a:xfrm>
          <a:prstGeom prst="rect">
            <a:avLst/>
          </a:prstGeom>
        </p:spPr>
      </p:pic>
      <p:pic>
        <p:nvPicPr>
          <p:cNvPr id="5" name="Picture 4" descr="demo_services.png"/>
          <p:cNvPicPr>
            <a:picLocks noChangeAspect="1"/>
          </p:cNvPicPr>
          <p:nvPr/>
        </p:nvPicPr>
        <p:blipFill>
          <a:blip r:embed="rId3"/>
          <a:stretch>
            <a:fillRect/>
          </a:stretch>
        </p:blipFill>
        <p:spPr>
          <a:xfrm>
            <a:off x="6355080" y="1572768"/>
            <a:ext cx="5084064" cy="3154680"/>
          </a:xfrm>
          <a:prstGeom prst="rect">
            <a:avLst/>
          </a:prstGeom>
        </p:spPr>
      </p:pic>
      <p:sp>
        <p:nvSpPr>
          <p:cNvPr id="6" name="Rounded Rectangle 5"/>
          <p:cNvSpPr/>
          <p:nvPr/>
        </p:nvSpPr>
        <p:spPr>
          <a:xfrm>
            <a:off x="822960" y="4892040"/>
            <a:ext cx="10972800" cy="105156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5001768"/>
            <a:ext cx="10643616" cy="832103"/>
          </a:xfrm>
          <a:prstGeom prst="rect">
            <a:avLst/>
          </a:prstGeom>
          <a:noFill/>
        </p:spPr>
        <p:txBody>
          <a:bodyPr wrap="none">
            <a:spAutoFit/>
          </a:bodyPr>
          <a:lstStyle/>
          <a:p>
            <a:pPr>
              <a:defRPr sz="1800" b="1">
                <a:solidFill>
                  <a:srgbClr val="182C4C"/>
                </a:solidFill>
                <a:latin typeface="Aptos"/>
              </a:defRPr>
            </a:pPr>
            <a:r>
              <a:t>Observed result</a:t>
            </a:r>
          </a:p>
          <a:p>
            <a:pPr>
              <a:defRPr sz="1400">
                <a:solidFill>
                  <a:srgbClr val="3D4858"/>
                </a:solidFill>
                <a:latin typeface="Aptos"/>
              </a:defRPr>
            </a:pPr>
            <a:r>
              <a:t>On the left, the publishers are actively sending sensor updates and vehicle entry requests. On the right, the statistics service is continuously recalculating free spaces, and the gate controller is reacting to incoming requests by opening the gate when spaces are available. This means the project already supports a full message loop rather than isolated scripts.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72800" cy="822960"/>
          </a:xfrm>
          <a:prstGeom prst="rect">
            <a:avLst/>
          </a:prstGeom>
          <a:noFill/>
        </p:spPr>
        <p:txBody>
          <a:bodyPr wrap="none">
            <a:spAutoFit/>
          </a:bodyPr>
          <a:lstStyle/>
          <a:p>
            <a:r>
              <a:rPr sz="2500" b="1">
                <a:solidFill>
                  <a:srgbClr val="182C4C"/>
                </a:solidFill>
                <a:latin typeface="Aptos"/>
              </a:rPr>
              <a:t>5. GitHub Progress and Commit Record</a:t>
            </a:r>
          </a:p>
          <a:p>
            <a:r>
              <a:rPr sz="1300">
                <a:solidFill>
                  <a:srgbClr val="3D4858"/>
                </a:solidFill>
                <a:latin typeface="Aptos"/>
              </a:rPr>
              <a:t>The repository history now reflects the recent implementation and presentation work.</a:t>
            </a:r>
          </a:p>
        </p:txBody>
      </p:sp>
      <p:pic>
        <p:nvPicPr>
          <p:cNvPr id="4" name="Picture 3" descr="github_commits_framed.png"/>
          <p:cNvPicPr>
            <a:picLocks noChangeAspect="1"/>
          </p:cNvPicPr>
          <p:nvPr/>
        </p:nvPicPr>
        <p:blipFill>
          <a:blip r:embed="rId2"/>
          <a:stretch>
            <a:fillRect/>
          </a:stretch>
        </p:blipFill>
        <p:spPr>
          <a:xfrm>
            <a:off x="658368" y="1417320"/>
            <a:ext cx="7589520" cy="4800600"/>
          </a:xfrm>
          <a:prstGeom prst="rect">
            <a:avLst/>
          </a:prstGeom>
        </p:spPr>
      </p:pic>
      <p:sp>
        <p:nvSpPr>
          <p:cNvPr id="5" name="Rounded Rectangle 4"/>
          <p:cNvSpPr/>
          <p:nvPr/>
        </p:nvSpPr>
        <p:spPr>
          <a:xfrm>
            <a:off x="8458200" y="1600200"/>
            <a:ext cx="3063240" cy="420624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22792" y="1709928"/>
            <a:ext cx="2734056" cy="3986783"/>
          </a:xfrm>
          <a:prstGeom prst="rect">
            <a:avLst/>
          </a:prstGeom>
          <a:noFill/>
        </p:spPr>
        <p:txBody>
          <a:bodyPr wrap="none">
            <a:spAutoFit/>
          </a:bodyPr>
          <a:lstStyle/>
          <a:p>
            <a:pPr>
              <a:defRPr sz="1800" b="1">
                <a:solidFill>
                  <a:srgbClr val="182C4C"/>
                </a:solidFill>
                <a:latin typeface="Aptos"/>
              </a:defRPr>
            </a:pPr>
            <a:r>
              <a:t>Repository progress</a:t>
            </a:r>
          </a:p>
          <a:p>
            <a:pPr>
              <a:spcAft>
                <a:spcPts val="400"/>
              </a:spcAft>
              <a:defRPr sz="1400">
                <a:solidFill>
                  <a:srgbClr val="3D4858"/>
                </a:solidFill>
                <a:latin typeface="Aptos"/>
              </a:defRPr>
            </a:pPr>
            <a:r>
              <a:t>The latest branch already contains the prototype improvements and the presentation files.</a:t>
            </a:r>
          </a:p>
          <a:p>
            <a:pPr>
              <a:spcAft>
                <a:spcPts val="400"/>
              </a:spcAft>
              <a:defRPr sz="1400">
                <a:solidFill>
                  <a:srgbClr val="3D4858"/>
                </a:solidFill>
                <a:latin typeface="Aptos"/>
              </a:defRPr>
            </a:pPr>
            <a:r>
              <a:t>The commit history shows that the work was recorded step by step instead of only being kept locally.</a:t>
            </a:r>
          </a:p>
          <a:p>
            <a:pPr>
              <a:spcAft>
                <a:spcPts val="400"/>
              </a:spcAft>
              <a:defRPr sz="1400">
                <a:solidFill>
                  <a:srgbClr val="3D4858"/>
                </a:solidFill>
                <a:latin typeface="Aptos"/>
              </a:defRPr>
            </a:pPr>
            <a:r>
              <a:t>This is useful for collaboration because team members can review the exact changes made to the project.</a:t>
            </a:r>
          </a:p>
          <a:p>
            <a:pPr>
              <a:spcAft>
                <a:spcPts val="400"/>
              </a:spcAft>
              <a:defRPr sz="1400">
                <a:solidFill>
                  <a:srgbClr val="3D4858"/>
                </a:solidFill>
                <a:latin typeface="Aptos"/>
              </a:defRPr>
            </a:pPr>
            <a:r>
              <a:t>The branch can now be used as a clean checkpoint for the next round of development.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8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72800" cy="822960"/>
          </a:xfrm>
          <a:prstGeom prst="rect">
            <a:avLst/>
          </a:prstGeom>
          <a:noFill/>
        </p:spPr>
        <p:txBody>
          <a:bodyPr wrap="none">
            <a:spAutoFit/>
          </a:bodyPr>
          <a:lstStyle/>
          <a:p>
            <a:r>
              <a:rPr sz="2500" b="1">
                <a:solidFill>
                  <a:srgbClr val="182C4C"/>
                </a:solidFill>
                <a:latin typeface="Aptos"/>
              </a:rPr>
              <a:t>6. Current Status and Next Step</a:t>
            </a:r>
          </a:p>
          <a:p>
            <a:r>
              <a:rPr sz="1300">
                <a:solidFill>
                  <a:srgbClr val="3D4858"/>
                </a:solidFill>
                <a:latin typeface="Aptos"/>
              </a:rPr>
              <a:t>The prototype is already ready for a short classroom demonstration.</a:t>
            </a:r>
          </a:p>
        </p:txBody>
      </p:sp>
      <p:sp>
        <p:nvSpPr>
          <p:cNvPr id="4" name="Rounded Rectangle 3"/>
          <p:cNvSpPr/>
          <p:nvPr/>
        </p:nvSpPr>
        <p:spPr>
          <a:xfrm>
            <a:off x="777240" y="1691640"/>
            <a:ext cx="5212080" cy="438912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1801368"/>
            <a:ext cx="4882896" cy="4169663"/>
          </a:xfrm>
          <a:prstGeom prst="rect">
            <a:avLst/>
          </a:prstGeom>
          <a:noFill/>
        </p:spPr>
        <p:txBody>
          <a:bodyPr wrap="none">
            <a:spAutoFit/>
          </a:bodyPr>
          <a:lstStyle/>
          <a:p>
            <a:pPr>
              <a:defRPr sz="1800" b="1">
                <a:solidFill>
                  <a:srgbClr val="182C4C"/>
                </a:solidFill>
                <a:latin typeface="Aptos"/>
              </a:defRPr>
            </a:pPr>
            <a:r>
              <a:t>What is ready now</a:t>
            </a:r>
          </a:p>
          <a:p>
            <a:pPr>
              <a:spcAft>
                <a:spcPts val="400"/>
              </a:spcAft>
              <a:defRPr sz="1400">
                <a:solidFill>
                  <a:srgbClr val="3D4858"/>
                </a:solidFill>
                <a:latin typeface="Aptos"/>
              </a:defRPr>
            </a:pPr>
            <a:r>
              <a:t>The project can run as a multi-process MQTT demo.</a:t>
            </a:r>
          </a:p>
          <a:p>
            <a:pPr>
              <a:spcAft>
                <a:spcPts val="400"/>
              </a:spcAft>
              <a:defRPr sz="1400">
                <a:solidFill>
                  <a:srgbClr val="3D4858"/>
                </a:solidFill>
                <a:latin typeface="Aptos"/>
              </a:defRPr>
            </a:pPr>
            <a:r>
              <a:t>The dashboard, statistics service, and gate logic are already producing visible output.</a:t>
            </a:r>
          </a:p>
          <a:p>
            <a:pPr>
              <a:spcAft>
                <a:spcPts val="400"/>
              </a:spcAft>
              <a:defRPr sz="1400">
                <a:solidFill>
                  <a:srgbClr val="3D4858"/>
                </a:solidFill>
                <a:latin typeface="Aptos"/>
              </a:defRPr>
            </a:pPr>
            <a:r>
              <a:t>The repository contains code updates, documentation, and presentation material.</a:t>
            </a:r>
          </a:p>
          <a:p>
            <a:pPr>
              <a:spcAft>
                <a:spcPts val="400"/>
              </a:spcAft>
              <a:defRPr sz="1400">
                <a:solidFill>
                  <a:srgbClr val="3D4858"/>
                </a:solidFill>
                <a:latin typeface="Aptos"/>
              </a:defRPr>
            </a:pPr>
            <a:r>
              <a:t>The current progress is strong enough to demonstrate a working prototype in class.</a:t>
            </a:r>
          </a:p>
        </p:txBody>
      </p:sp>
      <p:sp>
        <p:nvSpPr>
          <p:cNvPr id="6" name="Rounded Rectangle 5"/>
          <p:cNvSpPr/>
          <p:nvPr/>
        </p:nvSpPr>
        <p:spPr>
          <a:xfrm>
            <a:off x="6217920" y="1691640"/>
            <a:ext cx="5212080" cy="4389120"/>
          </a:xfrm>
          <a:prstGeom prst="roundRect">
            <a:avLst/>
          </a:prstGeom>
          <a:solidFill>
            <a:srgbClr val="FFFFFF"/>
          </a:solidFill>
          <a:ln>
            <a:solidFill>
              <a:srgbClr val="E4EC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801368"/>
            <a:ext cx="4882896" cy="4169663"/>
          </a:xfrm>
          <a:prstGeom prst="rect">
            <a:avLst/>
          </a:prstGeom>
          <a:noFill/>
        </p:spPr>
        <p:txBody>
          <a:bodyPr wrap="none">
            <a:spAutoFit/>
          </a:bodyPr>
          <a:lstStyle/>
          <a:p>
            <a:pPr>
              <a:defRPr sz="1800" b="1">
                <a:solidFill>
                  <a:srgbClr val="182C4C"/>
                </a:solidFill>
                <a:latin typeface="Aptos"/>
              </a:defRPr>
            </a:pPr>
            <a:r>
              <a:t>Reasonable next step</a:t>
            </a:r>
          </a:p>
          <a:p>
            <a:pPr>
              <a:spcAft>
                <a:spcPts val="400"/>
              </a:spcAft>
              <a:defRPr sz="1400">
                <a:solidFill>
                  <a:srgbClr val="3D4858"/>
                </a:solidFill>
                <a:latin typeface="Aptos"/>
              </a:defRPr>
            </a:pPr>
            <a:r>
              <a:t>Improve the visual interface by replacing terminal output with a simple web dashboard.</a:t>
            </a:r>
          </a:p>
          <a:p>
            <a:pPr>
              <a:spcAft>
                <a:spcPts val="400"/>
              </a:spcAft>
              <a:defRPr sz="1400">
                <a:solidFill>
                  <a:srgbClr val="3D4858"/>
                </a:solidFill>
                <a:latin typeface="Aptos"/>
              </a:defRPr>
            </a:pPr>
            <a:r>
              <a:t>Store parking events in a database so the team can analyze historical behavior later.</a:t>
            </a:r>
          </a:p>
          <a:p>
            <a:pPr>
              <a:spcAft>
                <a:spcPts val="400"/>
              </a:spcAft>
              <a:defRPr sz="1400">
                <a:solidFill>
                  <a:srgbClr val="3D4858"/>
                </a:solidFill>
                <a:latin typeface="Aptos"/>
              </a:defRPr>
            </a:pPr>
            <a:r>
              <a:t>Connect the logic to real sensors or a more realistic hardware simulation.</a:t>
            </a:r>
          </a:p>
          <a:p>
            <a:pPr>
              <a:spcAft>
                <a:spcPts val="400"/>
              </a:spcAft>
              <a:defRPr sz="1400">
                <a:solidFill>
                  <a:srgbClr val="3D4858"/>
                </a:solidFill>
                <a:latin typeface="Aptos"/>
              </a:defRPr>
            </a:pPr>
            <a:r>
              <a:t>Keep extending the repository with cleaner version control and team collaboration records.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